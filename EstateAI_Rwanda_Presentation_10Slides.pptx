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0" y="4114800"/>
            <a:ext cx="12191695" cy="2743200"/>
          </a:xfrm>
          <a:prstGeom prst="rtTriangle">
            <a:avLst/>
          </a:prstGeom>
          <a:solidFill>
            <a:srgbClr val="142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10972800" cy="365760"/>
          </a:xfrm>
          <a:prstGeom prst="rect">
            <a:avLst/>
          </a:prstGeom>
          <a:noFill/>
        </p:spPr>
        <p:txBody>
          <a:bodyPr wrap="square" lIns="45720" rIns="45720" tIns="18288" bIns="18288" anchor="t">
            <a:spAutoFit/>
          </a:bodyPr>
          <a:lstStyle/>
          <a:p>
            <a:pPr algn="ctr"/>
            <a:r>
              <a:rPr sz="1400" b="1">
                <a:solidFill>
                  <a:srgbClr val="A8C0E0"/>
                </a:solidFill>
                <a:latin typeface="Calibri"/>
              </a:rPr>
              <a:t>FINAL YEAR CAPSTONE PROJECT</a:t>
            </a:r>
          </a:p>
        </p:txBody>
      </p:sp>
      <p:sp>
        <p:nvSpPr>
          <p:cNvPr id="5" name="Rectangle 4"/>
          <p:cNvSpPr/>
          <p:nvPr/>
        </p:nvSpPr>
        <p:spPr>
          <a:xfrm>
            <a:off x="5638190" y="1005840"/>
            <a:ext cx="914400" cy="5486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11277295" cy="1097280"/>
          </a:xfrm>
          <a:prstGeom prst="rect">
            <a:avLst/>
          </a:prstGeom>
          <a:noFill/>
        </p:spPr>
        <p:txBody>
          <a:bodyPr wrap="square" lIns="45720" rIns="45720" tIns="18288" bIns="18288" anchor="t">
            <a:spAutoFit/>
          </a:bodyPr>
          <a:lstStyle/>
          <a:p>
            <a:pPr algn="ctr"/>
            <a:r>
              <a:rPr sz="6600" b="1">
                <a:solidFill>
                  <a:srgbClr val="FFFFFF"/>
                </a:solidFill>
                <a:latin typeface="Calibri"/>
              </a:rPr>
              <a:t>EstateAI Rwanda</a:t>
            </a:r>
          </a:p>
        </p:txBody>
      </p:sp>
      <p:sp>
        <p:nvSpPr>
          <p:cNvPr id="7" name="TextBox 6"/>
          <p:cNvSpPr txBox="1"/>
          <p:nvPr/>
        </p:nvSpPr>
        <p:spPr>
          <a:xfrm>
            <a:off x="457200" y="2468880"/>
            <a:ext cx="11277295" cy="640080"/>
          </a:xfrm>
          <a:prstGeom prst="rect">
            <a:avLst/>
          </a:prstGeom>
          <a:noFill/>
        </p:spPr>
        <p:txBody>
          <a:bodyPr wrap="square" lIns="45720" rIns="45720" tIns="18288" bIns="18288" anchor="t">
            <a:spAutoFit/>
          </a:bodyPr>
          <a:lstStyle/>
          <a:p>
            <a:pPr algn="ctr"/>
            <a:r>
              <a:rPr sz="2800" b="0">
                <a:solidFill>
                  <a:srgbClr val="CCD6E6"/>
                </a:solidFill>
                <a:latin typeface="Calibri"/>
              </a:rPr>
              <a:t>AI-Based Property Valuation System</a:t>
            </a:r>
          </a:p>
        </p:txBody>
      </p:sp>
      <p:sp>
        <p:nvSpPr>
          <p:cNvPr id="8" name="TextBox 7"/>
          <p:cNvSpPr txBox="1"/>
          <p:nvPr/>
        </p:nvSpPr>
        <p:spPr>
          <a:xfrm>
            <a:off x="457200" y="3108960"/>
            <a:ext cx="11277295" cy="457200"/>
          </a:xfrm>
          <a:prstGeom prst="rect">
            <a:avLst/>
          </a:prstGeom>
          <a:noFill/>
        </p:spPr>
        <p:txBody>
          <a:bodyPr wrap="square" lIns="45720" rIns="45720" tIns="18288" bIns="18288" anchor="t">
            <a:spAutoFit/>
          </a:bodyPr>
          <a:lstStyle/>
          <a:p>
            <a:pPr algn="ctr"/>
            <a:r>
              <a:rPr sz="1800" b="0">
                <a:solidFill>
                  <a:srgbClr val="A8C0E0"/>
                </a:solidFill>
                <a:latin typeface="Calibri"/>
              </a:rPr>
              <a:t>Case Study: Kigali City Real Estate Market</a:t>
            </a:r>
          </a:p>
        </p:txBody>
      </p:sp>
      <p:sp>
        <p:nvSpPr>
          <p:cNvPr id="9" name="TextBox 8"/>
          <p:cNvSpPr txBox="1"/>
          <p:nvPr/>
        </p:nvSpPr>
        <p:spPr>
          <a:xfrm>
            <a:off x="457200" y="4572000"/>
            <a:ext cx="11277295" cy="365760"/>
          </a:xfrm>
          <a:prstGeom prst="rect">
            <a:avLst/>
          </a:prstGeom>
          <a:noFill/>
        </p:spPr>
        <p:txBody>
          <a:bodyPr wrap="square" lIns="45720" rIns="45720" tIns="18288" bIns="18288" anchor="t">
            <a:spAutoFit/>
          </a:bodyPr>
          <a:lstStyle/>
          <a:p>
            <a:pPr algn="ctr"/>
            <a:r>
              <a:rPr sz="1400" b="0">
                <a:solidFill>
                  <a:srgbClr val="A8C0E0"/>
                </a:solidFill>
                <a:latin typeface="Calibri"/>
              </a:rPr>
              <a:t>Presented by</a:t>
            </a:r>
          </a:p>
        </p:txBody>
      </p:sp>
      <p:sp>
        <p:nvSpPr>
          <p:cNvPr id="10" name="TextBox 9"/>
          <p:cNvSpPr txBox="1"/>
          <p:nvPr/>
        </p:nvSpPr>
        <p:spPr>
          <a:xfrm>
            <a:off x="457200" y="4937760"/>
            <a:ext cx="11277295" cy="502920"/>
          </a:xfrm>
          <a:prstGeom prst="rect">
            <a:avLst/>
          </a:prstGeom>
          <a:noFill/>
        </p:spPr>
        <p:txBody>
          <a:bodyPr wrap="square" lIns="45720" rIns="45720" tIns="18288" bIns="18288" anchor="t">
            <a:spAutoFit/>
          </a:bodyPr>
          <a:lstStyle/>
          <a:p>
            <a:pPr algn="ctr"/>
            <a:r>
              <a:rPr sz="2200" b="1">
                <a:solidFill>
                  <a:srgbClr val="FFFFFF"/>
                </a:solidFill>
                <a:latin typeface="Calibri"/>
              </a:rPr>
              <a:t>NZAMURAMBAHO Frederick  ·  Reg No: 25RP18741</a:t>
            </a:r>
          </a:p>
        </p:txBody>
      </p:sp>
      <p:sp>
        <p:nvSpPr>
          <p:cNvPr id="11" name="TextBox 10"/>
          <p:cNvSpPr txBox="1"/>
          <p:nvPr/>
        </p:nvSpPr>
        <p:spPr>
          <a:xfrm>
            <a:off x="457200" y="5532120"/>
            <a:ext cx="11277295" cy="365760"/>
          </a:xfrm>
          <a:prstGeom prst="rect">
            <a:avLst/>
          </a:prstGeom>
          <a:noFill/>
        </p:spPr>
        <p:txBody>
          <a:bodyPr wrap="square" lIns="45720" rIns="45720" tIns="18288" bIns="18288" anchor="t">
            <a:spAutoFit/>
          </a:bodyPr>
          <a:lstStyle/>
          <a:p>
            <a:pPr algn="ctr"/>
            <a:r>
              <a:rPr sz="1400" b="0">
                <a:solidFill>
                  <a:srgbClr val="CCD6E6"/>
                </a:solidFill>
                <a:latin typeface="Calibri"/>
              </a:rPr>
              <a:t>Supervisor: Mr. Maurice NTEZIRIZA</a:t>
            </a:r>
          </a:p>
        </p:txBody>
      </p:sp>
      <p:sp>
        <p:nvSpPr>
          <p:cNvPr id="12" name="TextBox 11"/>
          <p:cNvSpPr txBox="1"/>
          <p:nvPr/>
        </p:nvSpPr>
        <p:spPr>
          <a:xfrm>
            <a:off x="457200" y="6126480"/>
            <a:ext cx="11277295" cy="365760"/>
          </a:xfrm>
          <a:prstGeom prst="rect">
            <a:avLst/>
          </a:prstGeom>
          <a:noFill/>
        </p:spPr>
        <p:txBody>
          <a:bodyPr wrap="square" lIns="45720" rIns="45720" tIns="18288" bIns="18288" anchor="t">
            <a:spAutoFit/>
          </a:bodyPr>
          <a:lstStyle/>
          <a:p>
            <a:pPr algn="ctr"/>
            <a:r>
              <a:rPr sz="1200" b="0">
                <a:solidFill>
                  <a:srgbClr val="8EA6C8"/>
                </a:solidFill>
                <a:latin typeface="Calibri"/>
              </a:rPr>
              <a:t>RP Kigali College   ·   B-Tech in Information Technology   ·   Kigali,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37160" cy="58978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lIns="45720" rIns="45720" tIns="18288" bIns="18288" anchor="t">
            <a:spAutoFit/>
          </a:bodyPr>
          <a:lstStyle/>
          <a:p>
            <a:pPr algn="l"/>
            <a:r>
              <a:rPr sz="2800" b="1">
                <a:solidFill>
                  <a:srgbClr val="FFFFFF"/>
                </a:solidFill>
                <a:latin typeface="Calibri"/>
              </a:rPr>
              <a:t>Introduction and Background</a:t>
            </a:r>
          </a:p>
        </p:txBody>
      </p:sp>
      <p:sp>
        <p:nvSpPr>
          <p:cNvPr id="5" name="TextBox 4"/>
          <p:cNvSpPr txBox="1"/>
          <p:nvPr/>
        </p:nvSpPr>
        <p:spPr>
          <a:xfrm>
            <a:off x="502920" y="603504"/>
            <a:ext cx="10515600" cy="329184"/>
          </a:xfrm>
          <a:prstGeom prst="rect">
            <a:avLst/>
          </a:prstGeom>
          <a:noFill/>
        </p:spPr>
        <p:txBody>
          <a:bodyPr wrap="square" lIns="45720" rIns="45720" tIns="18288" bIns="18288" anchor="t">
            <a:spAutoFit/>
          </a:bodyPr>
          <a:lstStyle/>
          <a:p>
            <a:pPr algn="l"/>
            <a:r>
              <a:rPr sz="1300" b="0">
                <a:solidFill>
                  <a:srgbClr val="CCD6E6"/>
                </a:solidFill>
                <a:latin typeface="Calibri"/>
              </a:rPr>
              <a:t>Why this project was created</a:t>
            </a:r>
          </a:p>
        </p:txBody>
      </p:sp>
      <p:sp>
        <p:nvSpPr>
          <p:cNvPr id="6" name="Rectangle 5"/>
          <p:cNvSpPr/>
          <p:nvPr/>
        </p:nvSpPr>
        <p:spPr>
          <a:xfrm>
            <a:off x="0" y="6537960"/>
            <a:ext cx="12191695" cy="3200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74320"/>
          </a:xfrm>
          <a:prstGeom prst="rect">
            <a:avLst/>
          </a:prstGeom>
          <a:noFill/>
        </p:spPr>
        <p:txBody>
          <a:bodyPr wrap="square" lIns="45720" rIns="45720" tIns="18288" bIns="18288" anchor="t">
            <a:spAutoFit/>
          </a:bodyPr>
          <a:lstStyle/>
          <a:p>
            <a:pPr algn="l"/>
            <a:r>
              <a:rPr sz="1000" b="0">
                <a:solidFill>
                  <a:srgbClr val="FFFFFF"/>
                </a:solidFill>
                <a:latin typeface="Calibri"/>
              </a:rPr>
              <a:t>EstateAI Rwanda  ·  AI-Based Property Valuation System</a:t>
            </a:r>
          </a:p>
        </p:txBody>
      </p:sp>
      <p:sp>
        <p:nvSpPr>
          <p:cNvPr id="8" name="TextBox 7"/>
          <p:cNvSpPr txBox="1"/>
          <p:nvPr/>
        </p:nvSpPr>
        <p:spPr>
          <a:xfrm>
            <a:off x="11521440" y="6565392"/>
            <a:ext cx="548640" cy="274320"/>
          </a:xfrm>
          <a:prstGeom prst="rect">
            <a:avLst/>
          </a:prstGeom>
          <a:noFill/>
        </p:spPr>
        <p:txBody>
          <a:bodyPr wrap="square" lIns="45720" rIns="45720" tIns="18288" bIns="18288" anchor="t">
            <a:spAutoFit/>
          </a:bodyPr>
          <a:lstStyle/>
          <a:p>
            <a:pPr algn="r"/>
            <a:r>
              <a:rPr sz="1000" b="1">
                <a:solidFill>
                  <a:srgbClr val="FFFFFF"/>
                </a:solidFill>
                <a:latin typeface="Calibri"/>
              </a:rPr>
              <a:t>2 / 10</a:t>
            </a:r>
          </a:p>
        </p:txBody>
      </p:sp>
      <p:sp>
        <p:nvSpPr>
          <p:cNvPr id="9" name="TextBox 8"/>
          <p:cNvSpPr txBox="1"/>
          <p:nvPr/>
        </p:nvSpPr>
        <p:spPr>
          <a:xfrm>
            <a:off x="502920" y="1143000"/>
            <a:ext cx="11430000" cy="502920"/>
          </a:xfrm>
          <a:prstGeom prst="rect">
            <a:avLst/>
          </a:prstGeom>
          <a:noFill/>
        </p:spPr>
        <p:txBody>
          <a:bodyPr wrap="square" lIns="45720" rIns="45720" tIns="18288" bIns="18288" anchor="t">
            <a:spAutoFit/>
          </a:bodyPr>
          <a:lstStyle/>
          <a:p>
            <a:pPr algn="l"/>
            <a:r>
              <a:rPr sz="1800" b="1">
                <a:solidFill>
                  <a:srgbClr val="1F3864"/>
                </a:solidFill>
                <a:latin typeface="Calibri"/>
              </a:rPr>
              <a:t>Real estate is growing fast in Rwanda, but information is not clear.</a:t>
            </a:r>
          </a:p>
        </p:txBody>
      </p:sp>
      <p:sp>
        <p:nvSpPr>
          <p:cNvPr id="10" name="TextBox 9"/>
          <p:cNvSpPr txBox="1"/>
          <p:nvPr/>
        </p:nvSpPr>
        <p:spPr>
          <a:xfrm>
            <a:off x="502920" y="1691640"/>
            <a:ext cx="11430000" cy="1828800"/>
          </a:xfrm>
          <a:prstGeom prst="rect">
            <a:avLst/>
          </a:prstGeom>
          <a:noFill/>
        </p:spPr>
        <p:txBody>
          <a:bodyPr wrap="square" lIns="45720" rIns="45720">
            <a:spAutoFit/>
          </a:bodyPr>
          <a:lstStyle/>
          <a:p>
            <a:pPr algn="l">
              <a:spcAft>
                <a:spcPts val="600"/>
              </a:spcAft>
            </a:pPr>
            <a:r>
              <a:rPr sz="1700" b="1">
                <a:solidFill>
                  <a:srgbClr val="1F3864"/>
                </a:solidFill>
                <a:latin typeface="Calibri"/>
              </a:rPr>
              <a:t>• </a:t>
            </a:r>
            <a:r>
              <a:rPr sz="1500">
                <a:solidFill>
                  <a:srgbClr val="222222"/>
                </a:solidFill>
                <a:latin typeface="Calibri"/>
              </a:rPr>
              <a:t>The property market in Kigali grows every year with new houses, apartments and land plots.</a:t>
            </a:r>
          </a:p>
          <a:p>
            <a:pPr algn="l">
              <a:spcAft>
                <a:spcPts val="600"/>
              </a:spcAft>
            </a:pPr>
            <a:r>
              <a:rPr sz="1700" b="1">
                <a:solidFill>
                  <a:srgbClr val="1F3864"/>
                </a:solidFill>
                <a:latin typeface="Calibri"/>
              </a:rPr>
              <a:t>• </a:t>
            </a:r>
            <a:r>
              <a:rPr sz="1500">
                <a:solidFill>
                  <a:srgbClr val="222222"/>
                </a:solidFill>
                <a:latin typeface="Calibri"/>
              </a:rPr>
              <a:t>There is no public database of property prices in Rwanda.</a:t>
            </a:r>
          </a:p>
          <a:p>
            <a:pPr algn="l">
              <a:spcAft>
                <a:spcPts val="600"/>
              </a:spcAft>
            </a:pPr>
            <a:r>
              <a:rPr sz="1700" b="1">
                <a:solidFill>
                  <a:srgbClr val="1F3864"/>
                </a:solidFill>
                <a:latin typeface="Calibri"/>
              </a:rPr>
              <a:t>• </a:t>
            </a:r>
            <a:r>
              <a:rPr sz="1500">
                <a:solidFill>
                  <a:srgbClr val="222222"/>
                </a:solidFill>
                <a:latin typeface="Calibri"/>
              </a:rPr>
              <a:t>Prices are set by personal opinion, not by data.</a:t>
            </a:r>
          </a:p>
          <a:p>
            <a:pPr algn="l">
              <a:spcAft>
                <a:spcPts val="600"/>
              </a:spcAft>
            </a:pPr>
            <a:r>
              <a:rPr sz="1700" b="1">
                <a:solidFill>
                  <a:srgbClr val="1F3864"/>
                </a:solidFill>
                <a:latin typeface="Calibri"/>
              </a:rPr>
              <a:t>• </a:t>
            </a:r>
            <a:r>
              <a:rPr sz="1500">
                <a:solidFill>
                  <a:srgbClr val="222222"/>
                </a:solidFill>
                <a:latin typeface="Calibri"/>
              </a:rPr>
              <a:t>Rental fraud is common, and many buyers overpay.</a:t>
            </a:r>
          </a:p>
        </p:txBody>
      </p:sp>
      <p:sp>
        <p:nvSpPr>
          <p:cNvPr id="11" name="Rectangle 10"/>
          <p:cNvSpPr/>
          <p:nvPr/>
        </p:nvSpPr>
        <p:spPr>
          <a:xfrm>
            <a:off x="502920" y="3794760"/>
            <a:ext cx="2606040" cy="228600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794760"/>
            <a:ext cx="2606040" cy="914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4023360"/>
            <a:ext cx="2606040" cy="548640"/>
          </a:xfrm>
          <a:prstGeom prst="rect">
            <a:avLst/>
          </a:prstGeom>
          <a:noFill/>
        </p:spPr>
        <p:txBody>
          <a:bodyPr wrap="square" lIns="45720" rIns="45720" tIns="18288" bIns="18288" anchor="t">
            <a:spAutoFit/>
          </a:bodyPr>
          <a:lstStyle/>
          <a:p>
            <a:pPr algn="ctr"/>
            <a:r>
              <a:rPr sz="3400" b="0">
                <a:solidFill>
                  <a:srgbClr val="2E75B6"/>
                </a:solidFill>
                <a:latin typeface="Calibri"/>
              </a:rPr>
              <a:t>📱</a:t>
            </a:r>
          </a:p>
        </p:txBody>
      </p:sp>
      <p:sp>
        <p:nvSpPr>
          <p:cNvPr id="14" name="TextBox 13"/>
          <p:cNvSpPr txBox="1"/>
          <p:nvPr/>
        </p:nvSpPr>
        <p:spPr>
          <a:xfrm>
            <a:off x="502920" y="4663440"/>
            <a:ext cx="2606040" cy="411480"/>
          </a:xfrm>
          <a:prstGeom prst="rect">
            <a:avLst/>
          </a:prstGeom>
          <a:noFill/>
        </p:spPr>
        <p:txBody>
          <a:bodyPr wrap="square" lIns="45720" rIns="45720" tIns="18288" bIns="18288" anchor="t">
            <a:spAutoFit/>
          </a:bodyPr>
          <a:lstStyle/>
          <a:p>
            <a:pPr algn="ctr"/>
            <a:r>
              <a:rPr sz="1500" b="1">
                <a:solidFill>
                  <a:srgbClr val="2E75B6"/>
                </a:solidFill>
                <a:latin typeface="Calibri"/>
              </a:rPr>
              <a:t>Mobile First</a:t>
            </a:r>
          </a:p>
        </p:txBody>
      </p:sp>
      <p:sp>
        <p:nvSpPr>
          <p:cNvPr id="15" name="TextBox 14"/>
          <p:cNvSpPr txBox="1"/>
          <p:nvPr/>
        </p:nvSpPr>
        <p:spPr>
          <a:xfrm>
            <a:off x="640080" y="5120640"/>
            <a:ext cx="2331720" cy="914400"/>
          </a:xfrm>
          <a:prstGeom prst="rect">
            <a:avLst/>
          </a:prstGeom>
          <a:noFill/>
        </p:spPr>
        <p:txBody>
          <a:bodyPr wrap="square" lIns="45720" rIns="45720" tIns="18288" bIns="18288" anchor="t">
            <a:spAutoFit/>
          </a:bodyPr>
          <a:lstStyle/>
          <a:p>
            <a:pPr algn="ctr"/>
            <a:r>
              <a:rPr sz="1200" b="0">
                <a:solidFill>
                  <a:srgbClr val="222222"/>
                </a:solidFill>
                <a:latin typeface="Calibri"/>
              </a:rPr>
              <a:t>Most Rwandans use phones to access the internet.</a:t>
            </a:r>
          </a:p>
        </p:txBody>
      </p:sp>
      <p:sp>
        <p:nvSpPr>
          <p:cNvPr id="16" name="Rectangle 15"/>
          <p:cNvSpPr/>
          <p:nvPr/>
        </p:nvSpPr>
        <p:spPr>
          <a:xfrm>
            <a:off x="3310128" y="3794760"/>
            <a:ext cx="2606040" cy="228600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0128" y="3794760"/>
            <a:ext cx="2606040"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10128" y="4023360"/>
            <a:ext cx="2606040" cy="548640"/>
          </a:xfrm>
          <a:prstGeom prst="rect">
            <a:avLst/>
          </a:prstGeom>
          <a:noFill/>
        </p:spPr>
        <p:txBody>
          <a:bodyPr wrap="square" lIns="45720" rIns="45720" tIns="18288" bIns="18288" anchor="t">
            <a:spAutoFit/>
          </a:bodyPr>
          <a:lstStyle/>
          <a:p>
            <a:pPr algn="ctr"/>
            <a:r>
              <a:rPr sz="3400" b="0">
                <a:solidFill>
                  <a:srgbClr val="D97706"/>
                </a:solidFill>
                <a:latin typeface="Calibri"/>
              </a:rPr>
              <a:t>💰</a:t>
            </a:r>
          </a:p>
        </p:txBody>
      </p:sp>
      <p:sp>
        <p:nvSpPr>
          <p:cNvPr id="19" name="TextBox 18"/>
          <p:cNvSpPr txBox="1"/>
          <p:nvPr/>
        </p:nvSpPr>
        <p:spPr>
          <a:xfrm>
            <a:off x="3310128" y="4663440"/>
            <a:ext cx="2606040" cy="411480"/>
          </a:xfrm>
          <a:prstGeom prst="rect">
            <a:avLst/>
          </a:prstGeom>
          <a:noFill/>
        </p:spPr>
        <p:txBody>
          <a:bodyPr wrap="square" lIns="45720" rIns="45720" tIns="18288" bIns="18288" anchor="t">
            <a:spAutoFit/>
          </a:bodyPr>
          <a:lstStyle/>
          <a:p>
            <a:pPr algn="ctr"/>
            <a:r>
              <a:rPr sz="1500" b="1">
                <a:solidFill>
                  <a:srgbClr val="D97706"/>
                </a:solidFill>
                <a:latin typeface="Calibri"/>
              </a:rPr>
              <a:t>Mobile Money</a:t>
            </a:r>
          </a:p>
        </p:txBody>
      </p:sp>
      <p:sp>
        <p:nvSpPr>
          <p:cNvPr id="20" name="TextBox 19"/>
          <p:cNvSpPr txBox="1"/>
          <p:nvPr/>
        </p:nvSpPr>
        <p:spPr>
          <a:xfrm>
            <a:off x="3447288" y="5120640"/>
            <a:ext cx="2331720" cy="914400"/>
          </a:xfrm>
          <a:prstGeom prst="rect">
            <a:avLst/>
          </a:prstGeom>
          <a:noFill/>
        </p:spPr>
        <p:txBody>
          <a:bodyPr wrap="square" lIns="45720" rIns="45720" tIns="18288" bIns="18288" anchor="t">
            <a:spAutoFit/>
          </a:bodyPr>
          <a:lstStyle/>
          <a:p>
            <a:pPr algn="ctr"/>
            <a:r>
              <a:rPr sz="1200" b="0">
                <a:solidFill>
                  <a:srgbClr val="222222"/>
                </a:solidFill>
                <a:latin typeface="Calibri"/>
              </a:rPr>
              <a:t>MTN MoMo and Airtel Money are the main ways to pay.</a:t>
            </a:r>
          </a:p>
        </p:txBody>
      </p:sp>
      <p:sp>
        <p:nvSpPr>
          <p:cNvPr id="21" name="Rectangle 20"/>
          <p:cNvSpPr/>
          <p:nvPr/>
        </p:nvSpPr>
        <p:spPr>
          <a:xfrm>
            <a:off x="6117336" y="3794760"/>
            <a:ext cx="2606040" cy="228600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3794760"/>
            <a:ext cx="2606040" cy="91440"/>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17336" y="4023360"/>
            <a:ext cx="2606040" cy="548640"/>
          </a:xfrm>
          <a:prstGeom prst="rect">
            <a:avLst/>
          </a:prstGeom>
          <a:noFill/>
        </p:spPr>
        <p:txBody>
          <a:bodyPr wrap="square" lIns="45720" rIns="45720" tIns="18288" bIns="18288" anchor="t">
            <a:spAutoFit/>
          </a:bodyPr>
          <a:lstStyle/>
          <a:p>
            <a:pPr algn="ctr"/>
            <a:r>
              <a:rPr sz="3400" b="0">
                <a:solidFill>
                  <a:srgbClr val="2F855A"/>
                </a:solidFill>
                <a:latin typeface="Calibri"/>
              </a:rPr>
              <a:t>🤖</a:t>
            </a:r>
          </a:p>
        </p:txBody>
      </p:sp>
      <p:sp>
        <p:nvSpPr>
          <p:cNvPr id="24" name="TextBox 23"/>
          <p:cNvSpPr txBox="1"/>
          <p:nvPr/>
        </p:nvSpPr>
        <p:spPr>
          <a:xfrm>
            <a:off x="6117336" y="4663440"/>
            <a:ext cx="2606040" cy="411480"/>
          </a:xfrm>
          <a:prstGeom prst="rect">
            <a:avLst/>
          </a:prstGeom>
          <a:noFill/>
        </p:spPr>
        <p:txBody>
          <a:bodyPr wrap="square" lIns="45720" rIns="45720" tIns="18288" bIns="18288" anchor="t">
            <a:spAutoFit/>
          </a:bodyPr>
          <a:lstStyle/>
          <a:p>
            <a:pPr algn="ctr"/>
            <a:r>
              <a:rPr sz="1500" b="1">
                <a:solidFill>
                  <a:srgbClr val="2F855A"/>
                </a:solidFill>
                <a:latin typeface="Calibri"/>
              </a:rPr>
              <a:t>AI Ready</a:t>
            </a:r>
          </a:p>
        </p:txBody>
      </p:sp>
      <p:sp>
        <p:nvSpPr>
          <p:cNvPr id="25" name="TextBox 24"/>
          <p:cNvSpPr txBox="1"/>
          <p:nvPr/>
        </p:nvSpPr>
        <p:spPr>
          <a:xfrm>
            <a:off x="6254496" y="5120640"/>
            <a:ext cx="2331720" cy="914400"/>
          </a:xfrm>
          <a:prstGeom prst="rect">
            <a:avLst/>
          </a:prstGeom>
          <a:noFill/>
        </p:spPr>
        <p:txBody>
          <a:bodyPr wrap="square" lIns="45720" rIns="45720" tIns="18288" bIns="18288" anchor="t">
            <a:spAutoFit/>
          </a:bodyPr>
          <a:lstStyle/>
          <a:p>
            <a:pPr algn="ctr"/>
            <a:r>
              <a:rPr sz="1200" b="0">
                <a:solidFill>
                  <a:srgbClr val="222222"/>
                </a:solidFill>
                <a:latin typeface="Calibri"/>
              </a:rPr>
              <a:t>Modern AI tools can now predict fair property prices.</a:t>
            </a:r>
          </a:p>
        </p:txBody>
      </p:sp>
      <p:sp>
        <p:nvSpPr>
          <p:cNvPr id="26" name="Rectangle 25"/>
          <p:cNvSpPr/>
          <p:nvPr/>
        </p:nvSpPr>
        <p:spPr>
          <a:xfrm>
            <a:off x="8924544" y="3794760"/>
            <a:ext cx="2606040" cy="228600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24544" y="3794760"/>
            <a:ext cx="2606040" cy="914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24544" y="4023360"/>
            <a:ext cx="2606040" cy="548640"/>
          </a:xfrm>
          <a:prstGeom prst="rect">
            <a:avLst/>
          </a:prstGeom>
          <a:noFill/>
        </p:spPr>
        <p:txBody>
          <a:bodyPr wrap="square" lIns="45720" rIns="45720" tIns="18288" bIns="18288" anchor="t">
            <a:spAutoFit/>
          </a:bodyPr>
          <a:lstStyle/>
          <a:p>
            <a:pPr algn="ctr"/>
            <a:r>
              <a:rPr sz="3400" b="0">
                <a:solidFill>
                  <a:srgbClr val="1F3864"/>
                </a:solidFill>
                <a:latin typeface="Calibri"/>
              </a:rPr>
              <a:t>🇷🇼</a:t>
            </a:r>
          </a:p>
        </p:txBody>
      </p:sp>
      <p:sp>
        <p:nvSpPr>
          <p:cNvPr id="29" name="TextBox 28"/>
          <p:cNvSpPr txBox="1"/>
          <p:nvPr/>
        </p:nvSpPr>
        <p:spPr>
          <a:xfrm>
            <a:off x="8924544" y="4663440"/>
            <a:ext cx="2606040" cy="411480"/>
          </a:xfrm>
          <a:prstGeom prst="rect">
            <a:avLst/>
          </a:prstGeom>
          <a:noFill/>
        </p:spPr>
        <p:txBody>
          <a:bodyPr wrap="square" lIns="45720" rIns="45720" tIns="18288" bIns="18288" anchor="t">
            <a:spAutoFit/>
          </a:bodyPr>
          <a:lstStyle/>
          <a:p>
            <a:pPr algn="ctr"/>
            <a:r>
              <a:rPr sz="1500" b="1">
                <a:solidFill>
                  <a:srgbClr val="1F3864"/>
                </a:solidFill>
                <a:latin typeface="Calibri"/>
              </a:rPr>
              <a:t>Local Need</a:t>
            </a:r>
          </a:p>
        </p:txBody>
      </p:sp>
      <p:sp>
        <p:nvSpPr>
          <p:cNvPr id="30" name="TextBox 29"/>
          <p:cNvSpPr txBox="1"/>
          <p:nvPr/>
        </p:nvSpPr>
        <p:spPr>
          <a:xfrm>
            <a:off x="9061704" y="5120640"/>
            <a:ext cx="2331720" cy="914400"/>
          </a:xfrm>
          <a:prstGeom prst="rect">
            <a:avLst/>
          </a:prstGeom>
          <a:noFill/>
        </p:spPr>
        <p:txBody>
          <a:bodyPr wrap="square" lIns="45720" rIns="45720" tIns="18288" bIns="18288" anchor="t">
            <a:spAutoFit/>
          </a:bodyPr>
          <a:lstStyle/>
          <a:p>
            <a:pPr algn="ctr"/>
            <a:r>
              <a:rPr sz="1200" b="0">
                <a:solidFill>
                  <a:srgbClr val="222222"/>
                </a:solidFill>
                <a:latin typeface="Calibri"/>
              </a:rPr>
              <a:t>Rwanda needs a digital, transparent property platform.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37160" cy="58978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lIns="45720" rIns="45720" tIns="18288" bIns="18288" anchor="t">
            <a:spAutoFit/>
          </a:bodyPr>
          <a:lstStyle/>
          <a:p>
            <a:pPr algn="l"/>
            <a:r>
              <a:rPr sz="2800" b="1">
                <a:solidFill>
                  <a:srgbClr val="FFFFFF"/>
                </a:solidFill>
                <a:latin typeface="Calibri"/>
              </a:rPr>
              <a:t>Problem Statement</a:t>
            </a:r>
          </a:p>
        </p:txBody>
      </p:sp>
      <p:sp>
        <p:nvSpPr>
          <p:cNvPr id="5" name="TextBox 4"/>
          <p:cNvSpPr txBox="1"/>
          <p:nvPr/>
        </p:nvSpPr>
        <p:spPr>
          <a:xfrm>
            <a:off x="502920" y="603504"/>
            <a:ext cx="10515600" cy="329184"/>
          </a:xfrm>
          <a:prstGeom prst="rect">
            <a:avLst/>
          </a:prstGeom>
          <a:noFill/>
        </p:spPr>
        <p:txBody>
          <a:bodyPr wrap="square" lIns="45720" rIns="45720" tIns="18288" bIns="18288" anchor="t">
            <a:spAutoFit/>
          </a:bodyPr>
          <a:lstStyle/>
          <a:p>
            <a:pPr algn="l"/>
            <a:r>
              <a:rPr sz="1300" b="0">
                <a:solidFill>
                  <a:srgbClr val="CCD6E6"/>
                </a:solidFill>
                <a:latin typeface="Calibri"/>
              </a:rPr>
              <a:t>The problem we are solving</a:t>
            </a:r>
          </a:p>
        </p:txBody>
      </p:sp>
      <p:sp>
        <p:nvSpPr>
          <p:cNvPr id="6" name="Rectangle 5"/>
          <p:cNvSpPr/>
          <p:nvPr/>
        </p:nvSpPr>
        <p:spPr>
          <a:xfrm>
            <a:off x="0" y="6537960"/>
            <a:ext cx="12191695" cy="3200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74320"/>
          </a:xfrm>
          <a:prstGeom prst="rect">
            <a:avLst/>
          </a:prstGeom>
          <a:noFill/>
        </p:spPr>
        <p:txBody>
          <a:bodyPr wrap="square" lIns="45720" rIns="45720" tIns="18288" bIns="18288" anchor="t">
            <a:spAutoFit/>
          </a:bodyPr>
          <a:lstStyle/>
          <a:p>
            <a:pPr algn="l"/>
            <a:r>
              <a:rPr sz="1000" b="0">
                <a:solidFill>
                  <a:srgbClr val="FFFFFF"/>
                </a:solidFill>
                <a:latin typeface="Calibri"/>
              </a:rPr>
              <a:t>EstateAI Rwanda  ·  AI-Based Property Valuation System</a:t>
            </a:r>
          </a:p>
        </p:txBody>
      </p:sp>
      <p:sp>
        <p:nvSpPr>
          <p:cNvPr id="8" name="TextBox 7"/>
          <p:cNvSpPr txBox="1"/>
          <p:nvPr/>
        </p:nvSpPr>
        <p:spPr>
          <a:xfrm>
            <a:off x="11521440" y="6565392"/>
            <a:ext cx="548640" cy="274320"/>
          </a:xfrm>
          <a:prstGeom prst="rect">
            <a:avLst/>
          </a:prstGeom>
          <a:noFill/>
        </p:spPr>
        <p:txBody>
          <a:bodyPr wrap="square" lIns="45720" rIns="45720" tIns="18288" bIns="18288" anchor="t">
            <a:spAutoFit/>
          </a:bodyPr>
          <a:lstStyle/>
          <a:p>
            <a:pPr algn="r"/>
            <a:r>
              <a:rPr sz="1000" b="1">
                <a:solidFill>
                  <a:srgbClr val="FFFFFF"/>
                </a:solidFill>
                <a:latin typeface="Calibri"/>
              </a:rPr>
              <a:t>3 / 10</a:t>
            </a:r>
          </a:p>
        </p:txBody>
      </p:sp>
      <p:sp>
        <p:nvSpPr>
          <p:cNvPr id="9" name="TextBox 8"/>
          <p:cNvSpPr txBox="1"/>
          <p:nvPr/>
        </p:nvSpPr>
        <p:spPr>
          <a:xfrm>
            <a:off x="502920" y="1143000"/>
            <a:ext cx="11430000" cy="502920"/>
          </a:xfrm>
          <a:prstGeom prst="rect">
            <a:avLst/>
          </a:prstGeom>
          <a:noFill/>
        </p:spPr>
        <p:txBody>
          <a:bodyPr wrap="square" lIns="45720" rIns="45720" tIns="18288" bIns="18288" anchor="t">
            <a:spAutoFit/>
          </a:bodyPr>
          <a:lstStyle/>
          <a:p>
            <a:pPr algn="l"/>
            <a:r>
              <a:rPr sz="1800" b="1">
                <a:solidFill>
                  <a:srgbClr val="C53030"/>
                </a:solidFill>
                <a:latin typeface="Calibri"/>
              </a:rPr>
              <a:t>Buyers, sellers and renters do not have a trusted digital platform for property.</a:t>
            </a:r>
          </a:p>
        </p:txBody>
      </p:sp>
      <p:sp>
        <p:nvSpPr>
          <p:cNvPr id="10" name="TextBox 9"/>
          <p:cNvSpPr txBox="1"/>
          <p:nvPr/>
        </p:nvSpPr>
        <p:spPr>
          <a:xfrm>
            <a:off x="502920" y="1828800"/>
            <a:ext cx="5486400" cy="365760"/>
          </a:xfrm>
          <a:prstGeom prst="rect">
            <a:avLst/>
          </a:prstGeom>
          <a:noFill/>
        </p:spPr>
        <p:txBody>
          <a:bodyPr wrap="square" lIns="45720" rIns="45720" tIns="18288" bIns="18288" anchor="t">
            <a:spAutoFit/>
          </a:bodyPr>
          <a:lstStyle/>
          <a:p>
            <a:pPr algn="l"/>
            <a:r>
              <a:rPr sz="1400" b="1">
                <a:solidFill>
                  <a:srgbClr val="C53030"/>
                </a:solidFill>
                <a:latin typeface="Calibri"/>
              </a:rPr>
              <a:t>❌  Problems in current platforms</a:t>
            </a:r>
          </a:p>
        </p:txBody>
      </p:sp>
      <p:sp>
        <p:nvSpPr>
          <p:cNvPr id="11" name="TextBox 10"/>
          <p:cNvSpPr txBox="1"/>
          <p:nvPr/>
        </p:nvSpPr>
        <p:spPr>
          <a:xfrm>
            <a:off x="502920" y="2194560"/>
            <a:ext cx="5486400" cy="3200400"/>
          </a:xfrm>
          <a:prstGeom prst="rect">
            <a:avLst/>
          </a:prstGeom>
          <a:noFill/>
        </p:spPr>
        <p:txBody>
          <a:bodyPr wrap="square" lIns="45720" rIns="45720">
            <a:spAutoFit/>
          </a:bodyPr>
          <a:lstStyle/>
          <a:p>
            <a:pPr algn="l">
              <a:spcAft>
                <a:spcPts val="600"/>
              </a:spcAft>
            </a:pPr>
            <a:r>
              <a:rPr sz="1500" b="1">
                <a:solidFill>
                  <a:srgbClr val="C53030"/>
                </a:solidFill>
                <a:latin typeface="Calibri"/>
              </a:rPr>
              <a:t>• </a:t>
            </a:r>
            <a:r>
              <a:rPr sz="1300">
                <a:solidFill>
                  <a:srgbClr val="222222"/>
                </a:solidFill>
                <a:latin typeface="Calibri"/>
              </a:rPr>
              <a:t>Existing websites only show pictures and prices set by agents — no verification.</a:t>
            </a:r>
          </a:p>
          <a:p>
            <a:pPr algn="l">
              <a:spcAft>
                <a:spcPts val="600"/>
              </a:spcAft>
            </a:pPr>
            <a:r>
              <a:rPr sz="1500" b="1">
                <a:solidFill>
                  <a:srgbClr val="C53030"/>
                </a:solidFill>
                <a:latin typeface="Calibri"/>
              </a:rPr>
              <a:t>• </a:t>
            </a:r>
            <a:r>
              <a:rPr sz="1300">
                <a:solidFill>
                  <a:srgbClr val="222222"/>
                </a:solidFill>
                <a:latin typeface="Calibri"/>
              </a:rPr>
              <a:t>Many buyers overpay because they cannot check if the price is fair.</a:t>
            </a:r>
          </a:p>
          <a:p>
            <a:pPr algn="l">
              <a:spcAft>
                <a:spcPts val="600"/>
              </a:spcAft>
            </a:pPr>
            <a:r>
              <a:rPr sz="1500" b="1">
                <a:solidFill>
                  <a:srgbClr val="C53030"/>
                </a:solidFill>
                <a:latin typeface="Calibri"/>
              </a:rPr>
              <a:t>• </a:t>
            </a:r>
            <a:r>
              <a:rPr sz="1300">
                <a:solidFill>
                  <a:srgbClr val="222222"/>
                </a:solidFill>
                <a:latin typeface="Calibri"/>
              </a:rPr>
              <a:t>Many sellers underprice because they do not know the market.</a:t>
            </a:r>
          </a:p>
          <a:p>
            <a:pPr algn="l">
              <a:spcAft>
                <a:spcPts val="600"/>
              </a:spcAft>
            </a:pPr>
            <a:r>
              <a:rPr sz="1500" b="1">
                <a:solidFill>
                  <a:srgbClr val="C53030"/>
                </a:solidFill>
                <a:latin typeface="Calibri"/>
              </a:rPr>
              <a:t>• </a:t>
            </a:r>
            <a:r>
              <a:rPr sz="1300">
                <a:solidFill>
                  <a:srgbClr val="222222"/>
                </a:solidFill>
                <a:latin typeface="Calibri"/>
              </a:rPr>
              <a:t>Renters are often victims of fake sellers who collect deposits and disappear.</a:t>
            </a:r>
          </a:p>
        </p:txBody>
      </p:sp>
      <p:sp>
        <p:nvSpPr>
          <p:cNvPr id="12" name="TextBox 11"/>
          <p:cNvSpPr txBox="1"/>
          <p:nvPr/>
        </p:nvSpPr>
        <p:spPr>
          <a:xfrm>
            <a:off x="6263640" y="1828800"/>
            <a:ext cx="5486400" cy="365760"/>
          </a:xfrm>
          <a:prstGeom prst="rect">
            <a:avLst/>
          </a:prstGeom>
          <a:noFill/>
        </p:spPr>
        <p:txBody>
          <a:bodyPr wrap="square" lIns="45720" rIns="45720" tIns="18288" bIns="18288" anchor="t">
            <a:spAutoFit/>
          </a:bodyPr>
          <a:lstStyle/>
          <a:p>
            <a:pPr algn="l"/>
            <a:r>
              <a:rPr sz="1400" b="1">
                <a:solidFill>
                  <a:srgbClr val="C53030"/>
                </a:solidFill>
                <a:latin typeface="Calibri"/>
              </a:rPr>
              <a:t>❌  Missing modern features</a:t>
            </a:r>
          </a:p>
        </p:txBody>
      </p:sp>
      <p:sp>
        <p:nvSpPr>
          <p:cNvPr id="13" name="TextBox 12"/>
          <p:cNvSpPr txBox="1"/>
          <p:nvPr/>
        </p:nvSpPr>
        <p:spPr>
          <a:xfrm>
            <a:off x="6263640" y="2194560"/>
            <a:ext cx="5486400" cy="3200400"/>
          </a:xfrm>
          <a:prstGeom prst="rect">
            <a:avLst/>
          </a:prstGeom>
          <a:noFill/>
        </p:spPr>
        <p:txBody>
          <a:bodyPr wrap="square" lIns="45720" rIns="45720">
            <a:spAutoFit/>
          </a:bodyPr>
          <a:lstStyle/>
          <a:p>
            <a:pPr algn="l">
              <a:spcAft>
                <a:spcPts val="600"/>
              </a:spcAft>
            </a:pPr>
            <a:r>
              <a:rPr sz="1500" b="1">
                <a:solidFill>
                  <a:srgbClr val="C53030"/>
                </a:solidFill>
                <a:latin typeface="Calibri"/>
              </a:rPr>
              <a:t>• </a:t>
            </a:r>
            <a:r>
              <a:rPr sz="1300">
                <a:solidFill>
                  <a:srgbClr val="222222"/>
                </a:solidFill>
                <a:latin typeface="Calibri"/>
              </a:rPr>
              <a:t>No AI or Machine Learning tool exists for Rwandan property prices.</a:t>
            </a:r>
          </a:p>
          <a:p>
            <a:pPr algn="l">
              <a:spcAft>
                <a:spcPts val="600"/>
              </a:spcAft>
            </a:pPr>
            <a:r>
              <a:rPr sz="1500" b="1">
                <a:solidFill>
                  <a:srgbClr val="C53030"/>
                </a:solidFill>
                <a:latin typeface="Calibri"/>
              </a:rPr>
              <a:t>• </a:t>
            </a:r>
            <a:r>
              <a:rPr sz="1300">
                <a:solidFill>
                  <a:srgbClr val="222222"/>
                </a:solidFill>
                <a:latin typeface="Calibri"/>
              </a:rPr>
              <a:t>No public database of completed property sales is available.</a:t>
            </a:r>
          </a:p>
          <a:p>
            <a:pPr algn="l">
              <a:spcAft>
                <a:spcPts val="600"/>
              </a:spcAft>
            </a:pPr>
            <a:r>
              <a:rPr sz="1500" b="1">
                <a:solidFill>
                  <a:srgbClr val="C53030"/>
                </a:solidFill>
                <a:latin typeface="Calibri"/>
              </a:rPr>
              <a:t>• </a:t>
            </a:r>
            <a:r>
              <a:rPr sz="1300">
                <a:solidFill>
                  <a:srgbClr val="222222"/>
                </a:solidFill>
                <a:latin typeface="Calibri"/>
              </a:rPr>
              <a:t>Existing platforms do not connect with MTN MoMo or Airtel Money.</a:t>
            </a:r>
          </a:p>
          <a:p>
            <a:pPr algn="l">
              <a:spcAft>
                <a:spcPts val="600"/>
              </a:spcAft>
            </a:pPr>
            <a:r>
              <a:rPr sz="1500" b="1">
                <a:solidFill>
                  <a:srgbClr val="C53030"/>
                </a:solidFill>
                <a:latin typeface="Calibri"/>
              </a:rPr>
              <a:t>• </a:t>
            </a:r>
            <a:r>
              <a:rPr sz="1300">
                <a:solidFill>
                  <a:srgbClr val="222222"/>
                </a:solidFill>
                <a:latin typeface="Calibri"/>
              </a:rPr>
              <a:t>There is no proper verification process to reduce fraud.</a:t>
            </a:r>
          </a:p>
        </p:txBody>
      </p:sp>
      <p:sp>
        <p:nvSpPr>
          <p:cNvPr id="14" name="Rectangle 13"/>
          <p:cNvSpPr/>
          <p:nvPr/>
        </p:nvSpPr>
        <p:spPr>
          <a:xfrm>
            <a:off x="502920" y="5349240"/>
            <a:ext cx="11201400" cy="960120"/>
          </a:xfrm>
          <a:prstGeom prst="rect">
            <a:avLst/>
          </a:prstGeom>
          <a:solidFill>
            <a:srgbClr val="FBEAEA"/>
          </a:solidFill>
          <a:ln w="6350">
            <a:solidFill>
              <a:srgbClr val="E79B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5440680"/>
            <a:ext cx="10972800" cy="365760"/>
          </a:xfrm>
          <a:prstGeom prst="rect">
            <a:avLst/>
          </a:prstGeom>
          <a:noFill/>
        </p:spPr>
        <p:txBody>
          <a:bodyPr wrap="square" lIns="45720" rIns="45720" tIns="18288" bIns="18288" anchor="t">
            <a:spAutoFit/>
          </a:bodyPr>
          <a:lstStyle/>
          <a:p>
            <a:pPr algn="l"/>
            <a:r>
              <a:rPr sz="1300" b="1">
                <a:solidFill>
                  <a:srgbClr val="C53030"/>
                </a:solidFill>
                <a:latin typeface="Calibri"/>
              </a:rPr>
              <a:t>✅  The Need</a:t>
            </a:r>
          </a:p>
        </p:txBody>
      </p:sp>
      <p:sp>
        <p:nvSpPr>
          <p:cNvPr id="16" name="TextBox 15"/>
          <p:cNvSpPr txBox="1"/>
          <p:nvPr/>
        </p:nvSpPr>
        <p:spPr>
          <a:xfrm>
            <a:off x="640080" y="5760720"/>
            <a:ext cx="10972800" cy="548640"/>
          </a:xfrm>
          <a:prstGeom prst="rect">
            <a:avLst/>
          </a:prstGeom>
          <a:noFill/>
        </p:spPr>
        <p:txBody>
          <a:bodyPr wrap="square" lIns="45720" rIns="45720" tIns="18288" bIns="18288" anchor="t">
            <a:spAutoFit/>
          </a:bodyPr>
          <a:lstStyle/>
          <a:p>
            <a:pPr algn="l"/>
            <a:r>
              <a:rPr sz="1300" b="0">
                <a:solidFill>
                  <a:srgbClr val="222222"/>
                </a:solidFill>
                <a:latin typeface="Calibri"/>
              </a:rPr>
              <a:t>An AI-based property valuation system that combines a mobile app, a web dashboard, a price prediction model, a location engine and mobile money — built for Rwanda.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37160" cy="58978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lIns="45720" rIns="45720" tIns="18288" bIns="18288" anchor="t">
            <a:spAutoFit/>
          </a:bodyPr>
          <a:lstStyle/>
          <a:p>
            <a:pPr algn="l"/>
            <a:r>
              <a:rPr sz="2800" b="1">
                <a:solidFill>
                  <a:srgbClr val="FFFFFF"/>
                </a:solidFill>
                <a:latin typeface="Calibri"/>
              </a:rPr>
              <a:t>Objectives of the Project</a:t>
            </a:r>
          </a:p>
        </p:txBody>
      </p:sp>
      <p:sp>
        <p:nvSpPr>
          <p:cNvPr id="5" name="TextBox 4"/>
          <p:cNvSpPr txBox="1"/>
          <p:nvPr/>
        </p:nvSpPr>
        <p:spPr>
          <a:xfrm>
            <a:off x="502920" y="603504"/>
            <a:ext cx="10515600" cy="329184"/>
          </a:xfrm>
          <a:prstGeom prst="rect">
            <a:avLst/>
          </a:prstGeom>
          <a:noFill/>
        </p:spPr>
        <p:txBody>
          <a:bodyPr wrap="square" lIns="45720" rIns="45720" tIns="18288" bIns="18288" anchor="t">
            <a:spAutoFit/>
          </a:bodyPr>
          <a:lstStyle/>
          <a:p>
            <a:pPr algn="l"/>
            <a:r>
              <a:rPr sz="1300" b="0">
                <a:solidFill>
                  <a:srgbClr val="CCD6E6"/>
                </a:solidFill>
                <a:latin typeface="Calibri"/>
              </a:rPr>
              <a:t>What the project set out to do</a:t>
            </a:r>
          </a:p>
        </p:txBody>
      </p:sp>
      <p:sp>
        <p:nvSpPr>
          <p:cNvPr id="6" name="Rectangle 5"/>
          <p:cNvSpPr/>
          <p:nvPr/>
        </p:nvSpPr>
        <p:spPr>
          <a:xfrm>
            <a:off x="0" y="6537960"/>
            <a:ext cx="12191695" cy="3200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74320"/>
          </a:xfrm>
          <a:prstGeom prst="rect">
            <a:avLst/>
          </a:prstGeom>
          <a:noFill/>
        </p:spPr>
        <p:txBody>
          <a:bodyPr wrap="square" lIns="45720" rIns="45720" tIns="18288" bIns="18288" anchor="t">
            <a:spAutoFit/>
          </a:bodyPr>
          <a:lstStyle/>
          <a:p>
            <a:pPr algn="l"/>
            <a:r>
              <a:rPr sz="1000" b="0">
                <a:solidFill>
                  <a:srgbClr val="FFFFFF"/>
                </a:solidFill>
                <a:latin typeface="Calibri"/>
              </a:rPr>
              <a:t>EstateAI Rwanda  ·  AI-Based Property Valuation System</a:t>
            </a:r>
          </a:p>
        </p:txBody>
      </p:sp>
      <p:sp>
        <p:nvSpPr>
          <p:cNvPr id="8" name="TextBox 7"/>
          <p:cNvSpPr txBox="1"/>
          <p:nvPr/>
        </p:nvSpPr>
        <p:spPr>
          <a:xfrm>
            <a:off x="11521440" y="6565392"/>
            <a:ext cx="548640" cy="274320"/>
          </a:xfrm>
          <a:prstGeom prst="rect">
            <a:avLst/>
          </a:prstGeom>
          <a:noFill/>
        </p:spPr>
        <p:txBody>
          <a:bodyPr wrap="square" lIns="45720" rIns="45720" tIns="18288" bIns="18288" anchor="t">
            <a:spAutoFit/>
          </a:bodyPr>
          <a:lstStyle/>
          <a:p>
            <a:pPr algn="r"/>
            <a:r>
              <a:rPr sz="1000" b="1">
                <a:solidFill>
                  <a:srgbClr val="FFFFFF"/>
                </a:solidFill>
                <a:latin typeface="Calibri"/>
              </a:rPr>
              <a:t>4 / 10</a:t>
            </a:r>
          </a:p>
        </p:txBody>
      </p:sp>
      <p:sp>
        <p:nvSpPr>
          <p:cNvPr id="9" name="Rectangle 8"/>
          <p:cNvSpPr/>
          <p:nvPr/>
        </p:nvSpPr>
        <p:spPr>
          <a:xfrm>
            <a:off x="502920" y="1143000"/>
            <a:ext cx="11201400" cy="1188720"/>
          </a:xfrm>
          <a:prstGeom prst="rect">
            <a:avLst/>
          </a:prstGeom>
          <a:solidFill>
            <a:srgbClr val="E6EEF8"/>
          </a:solidFill>
          <a:ln w="63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10972800" cy="365760"/>
          </a:xfrm>
          <a:prstGeom prst="rect">
            <a:avLst/>
          </a:prstGeom>
          <a:noFill/>
        </p:spPr>
        <p:txBody>
          <a:bodyPr wrap="square" lIns="45720" rIns="45720" tIns="18288" bIns="18288" anchor="t">
            <a:spAutoFit/>
          </a:bodyPr>
          <a:lstStyle/>
          <a:p>
            <a:pPr algn="l"/>
            <a:r>
              <a:rPr sz="1400" b="1">
                <a:solidFill>
                  <a:srgbClr val="1F3864"/>
                </a:solidFill>
                <a:latin typeface="Calibri"/>
              </a:rPr>
              <a:t>🎯  General Objective</a:t>
            </a:r>
          </a:p>
        </p:txBody>
      </p:sp>
      <p:sp>
        <p:nvSpPr>
          <p:cNvPr id="11" name="TextBox 10"/>
          <p:cNvSpPr txBox="1"/>
          <p:nvPr/>
        </p:nvSpPr>
        <p:spPr>
          <a:xfrm>
            <a:off x="685800" y="1600200"/>
            <a:ext cx="10972800" cy="685800"/>
          </a:xfrm>
          <a:prstGeom prst="rect">
            <a:avLst/>
          </a:prstGeom>
          <a:noFill/>
        </p:spPr>
        <p:txBody>
          <a:bodyPr wrap="square" lIns="45720" rIns="45720" tIns="18288" bIns="18288" anchor="t">
            <a:spAutoFit/>
          </a:bodyPr>
          <a:lstStyle/>
          <a:p>
            <a:pPr algn="l"/>
            <a:r>
              <a:rPr sz="1300" b="0">
                <a:solidFill>
                  <a:srgbClr val="222222"/>
                </a:solidFill>
                <a:latin typeface="Calibri"/>
              </a:rPr>
              <a:t>To develop a mobile and web platform called AI-Based Property Valuation System that helps people easily buy, sell, and rent properties by providing property information and communication tools in one system.</a:t>
            </a:r>
          </a:p>
        </p:txBody>
      </p:sp>
      <p:sp>
        <p:nvSpPr>
          <p:cNvPr id="12" name="TextBox 11"/>
          <p:cNvSpPr txBox="1"/>
          <p:nvPr/>
        </p:nvSpPr>
        <p:spPr>
          <a:xfrm>
            <a:off x="502920" y="2514600"/>
            <a:ext cx="10972800" cy="365760"/>
          </a:xfrm>
          <a:prstGeom prst="rect">
            <a:avLst/>
          </a:prstGeom>
          <a:noFill/>
        </p:spPr>
        <p:txBody>
          <a:bodyPr wrap="square" lIns="45720" rIns="45720" tIns="18288" bIns="18288" anchor="t">
            <a:spAutoFit/>
          </a:bodyPr>
          <a:lstStyle/>
          <a:p>
            <a:pPr algn="l"/>
            <a:r>
              <a:rPr sz="1400" b="1">
                <a:solidFill>
                  <a:srgbClr val="D97706"/>
                </a:solidFill>
                <a:latin typeface="Calibri"/>
              </a:rPr>
              <a:t>📌  Specific Objectives</a:t>
            </a:r>
          </a:p>
        </p:txBody>
      </p:sp>
      <p:sp>
        <p:nvSpPr>
          <p:cNvPr id="13" name="TextBox 12"/>
          <p:cNvSpPr txBox="1"/>
          <p:nvPr/>
        </p:nvSpPr>
        <p:spPr>
          <a:xfrm>
            <a:off x="502920" y="2926080"/>
            <a:ext cx="5577840" cy="3474720"/>
          </a:xfrm>
          <a:prstGeom prst="rect">
            <a:avLst/>
          </a:prstGeom>
          <a:noFill/>
        </p:spPr>
        <p:txBody>
          <a:bodyPr wrap="square" lIns="45720" rIns="45720">
            <a:spAutoFit/>
          </a:bodyPr>
          <a:lstStyle/>
          <a:p>
            <a:pPr algn="l">
              <a:spcAft>
                <a:spcPts val="600"/>
              </a:spcAft>
            </a:pPr>
            <a:r>
              <a:rPr sz="1400" b="1">
                <a:solidFill>
                  <a:srgbClr val="D97706"/>
                </a:solidFill>
                <a:latin typeface="Calibri"/>
              </a:rPr>
              <a:t>• </a:t>
            </a:r>
            <a:r>
              <a:rPr sz="1200">
                <a:solidFill>
                  <a:srgbClr val="222222"/>
                </a:solidFill>
                <a:latin typeface="Calibri"/>
              </a:rPr>
              <a:t>To design and build a mobile app and web dashboard for browsing and managing properties.</a:t>
            </a:r>
          </a:p>
          <a:p>
            <a:pPr algn="l">
              <a:spcAft>
                <a:spcPts val="600"/>
              </a:spcAft>
            </a:pPr>
            <a:r>
              <a:rPr sz="1400" b="1">
                <a:solidFill>
                  <a:srgbClr val="D97706"/>
                </a:solidFill>
                <a:latin typeface="Calibri"/>
              </a:rPr>
              <a:t>• </a:t>
            </a:r>
            <a:r>
              <a:rPr sz="1200">
                <a:solidFill>
                  <a:srgbClr val="222222"/>
                </a:solidFill>
                <a:latin typeface="Calibri"/>
              </a:rPr>
              <a:t>To build an AI system that estimates the fair price of a house based on its size, bedrooms, location and features.</a:t>
            </a:r>
          </a:p>
          <a:p>
            <a:pPr algn="l">
              <a:spcAft>
                <a:spcPts val="600"/>
              </a:spcAft>
            </a:pPr>
            <a:r>
              <a:rPr sz="1400" b="1">
                <a:solidFill>
                  <a:srgbClr val="D97706"/>
                </a:solidFill>
                <a:latin typeface="Calibri"/>
              </a:rPr>
              <a:t>• </a:t>
            </a:r>
            <a:r>
              <a:rPr sz="1200">
                <a:solidFill>
                  <a:srgbClr val="222222"/>
                </a:solidFill>
                <a:latin typeface="Calibri"/>
              </a:rPr>
              <a:t>To build an AI system that estimates the fair price of a land plot based on its size, location and road access.</a:t>
            </a:r>
          </a:p>
        </p:txBody>
      </p:sp>
      <p:sp>
        <p:nvSpPr>
          <p:cNvPr id="14" name="TextBox 13"/>
          <p:cNvSpPr txBox="1"/>
          <p:nvPr/>
        </p:nvSpPr>
        <p:spPr>
          <a:xfrm>
            <a:off x="6263640" y="2926080"/>
            <a:ext cx="5577840" cy="3474720"/>
          </a:xfrm>
          <a:prstGeom prst="rect">
            <a:avLst/>
          </a:prstGeom>
          <a:noFill/>
        </p:spPr>
        <p:txBody>
          <a:bodyPr wrap="square" lIns="45720" rIns="45720">
            <a:spAutoFit/>
          </a:bodyPr>
          <a:lstStyle/>
          <a:p>
            <a:pPr algn="l">
              <a:spcAft>
                <a:spcPts val="600"/>
              </a:spcAft>
            </a:pPr>
            <a:r>
              <a:rPr sz="1400" b="1">
                <a:solidFill>
                  <a:srgbClr val="D97706"/>
                </a:solidFill>
                <a:latin typeface="Calibri"/>
              </a:rPr>
              <a:t>• </a:t>
            </a:r>
            <a:r>
              <a:rPr sz="1200">
                <a:solidFill>
                  <a:srgbClr val="222222"/>
                </a:solidFill>
                <a:latin typeface="Calibri"/>
              </a:rPr>
              <a:t>To train a machine-learning model using Random Forest and Gradient Boosting (Stacking ensemble).</a:t>
            </a:r>
          </a:p>
          <a:p>
            <a:pPr algn="l">
              <a:spcAft>
                <a:spcPts val="600"/>
              </a:spcAft>
            </a:pPr>
            <a:r>
              <a:rPr sz="1400" b="1">
                <a:solidFill>
                  <a:srgbClr val="D97706"/>
                </a:solidFill>
                <a:latin typeface="Calibri"/>
              </a:rPr>
              <a:t>• </a:t>
            </a:r>
            <a:r>
              <a:rPr sz="1200">
                <a:solidFill>
                  <a:srgbClr val="222222"/>
                </a:solidFill>
                <a:latin typeface="Calibri"/>
              </a:rPr>
              <a:t>To add secure login, email verification, password reset, Google sign-in, and JWT authentication.</a:t>
            </a:r>
          </a:p>
          <a:p>
            <a:pPr algn="l">
              <a:spcAft>
                <a:spcPts val="600"/>
              </a:spcAft>
            </a:pPr>
            <a:r>
              <a:rPr sz="1400" b="1">
                <a:solidFill>
                  <a:srgbClr val="D97706"/>
                </a:solidFill>
                <a:latin typeface="Calibri"/>
              </a:rPr>
              <a:t>• </a:t>
            </a:r>
            <a:r>
              <a:rPr sz="1200">
                <a:solidFill>
                  <a:srgbClr val="222222"/>
                </a:solidFill>
                <a:latin typeface="Calibri"/>
              </a:rPr>
              <a:t>To deploy the system on the Render cloud platform and to evaluate it through user testing.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37160" cy="58978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lIns="45720" rIns="45720" tIns="18288" bIns="18288" anchor="t">
            <a:spAutoFit/>
          </a:bodyPr>
          <a:lstStyle/>
          <a:p>
            <a:pPr algn="l"/>
            <a:r>
              <a:rPr sz="2800" b="1">
                <a:solidFill>
                  <a:srgbClr val="FFFFFF"/>
                </a:solidFill>
                <a:latin typeface="Calibri"/>
              </a:rPr>
              <a:t>Literature Review</a:t>
            </a:r>
          </a:p>
        </p:txBody>
      </p:sp>
      <p:sp>
        <p:nvSpPr>
          <p:cNvPr id="5" name="TextBox 4"/>
          <p:cNvSpPr txBox="1"/>
          <p:nvPr/>
        </p:nvSpPr>
        <p:spPr>
          <a:xfrm>
            <a:off x="502920" y="603504"/>
            <a:ext cx="10515600" cy="329184"/>
          </a:xfrm>
          <a:prstGeom prst="rect">
            <a:avLst/>
          </a:prstGeom>
          <a:noFill/>
        </p:spPr>
        <p:txBody>
          <a:bodyPr wrap="square" lIns="45720" rIns="45720" tIns="18288" bIns="18288" anchor="t">
            <a:spAutoFit/>
          </a:bodyPr>
          <a:lstStyle/>
          <a:p>
            <a:pPr algn="l"/>
            <a:r>
              <a:rPr sz="1300" b="0">
                <a:solidFill>
                  <a:srgbClr val="CCD6E6"/>
                </a:solidFill>
                <a:latin typeface="Calibri"/>
              </a:rPr>
              <a:t>Related work and existing systems</a:t>
            </a:r>
          </a:p>
        </p:txBody>
      </p:sp>
      <p:sp>
        <p:nvSpPr>
          <p:cNvPr id="6" name="Rectangle 5"/>
          <p:cNvSpPr/>
          <p:nvPr/>
        </p:nvSpPr>
        <p:spPr>
          <a:xfrm>
            <a:off x="0" y="6537960"/>
            <a:ext cx="12191695" cy="3200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74320"/>
          </a:xfrm>
          <a:prstGeom prst="rect">
            <a:avLst/>
          </a:prstGeom>
          <a:noFill/>
        </p:spPr>
        <p:txBody>
          <a:bodyPr wrap="square" lIns="45720" rIns="45720" tIns="18288" bIns="18288" anchor="t">
            <a:spAutoFit/>
          </a:bodyPr>
          <a:lstStyle/>
          <a:p>
            <a:pPr algn="l"/>
            <a:r>
              <a:rPr sz="1000" b="0">
                <a:solidFill>
                  <a:srgbClr val="FFFFFF"/>
                </a:solidFill>
                <a:latin typeface="Calibri"/>
              </a:rPr>
              <a:t>EstateAI Rwanda  ·  AI-Based Property Valuation System</a:t>
            </a:r>
          </a:p>
        </p:txBody>
      </p:sp>
      <p:sp>
        <p:nvSpPr>
          <p:cNvPr id="8" name="TextBox 7"/>
          <p:cNvSpPr txBox="1"/>
          <p:nvPr/>
        </p:nvSpPr>
        <p:spPr>
          <a:xfrm>
            <a:off x="11521440" y="6565392"/>
            <a:ext cx="548640" cy="274320"/>
          </a:xfrm>
          <a:prstGeom prst="rect">
            <a:avLst/>
          </a:prstGeom>
          <a:noFill/>
        </p:spPr>
        <p:txBody>
          <a:bodyPr wrap="square" lIns="45720" rIns="45720" tIns="18288" bIns="18288" anchor="t">
            <a:spAutoFit/>
          </a:bodyPr>
          <a:lstStyle/>
          <a:p>
            <a:pPr algn="r"/>
            <a:r>
              <a:rPr sz="1000" b="1">
                <a:solidFill>
                  <a:srgbClr val="FFFFFF"/>
                </a:solidFill>
                <a:latin typeface="Calibri"/>
              </a:rPr>
              <a:t>5 / 10</a:t>
            </a:r>
          </a:p>
        </p:txBody>
      </p:sp>
      <p:sp>
        <p:nvSpPr>
          <p:cNvPr id="9" name="TextBox 8"/>
          <p:cNvSpPr txBox="1"/>
          <p:nvPr/>
        </p:nvSpPr>
        <p:spPr>
          <a:xfrm>
            <a:off x="502920" y="1143000"/>
            <a:ext cx="11430000" cy="502920"/>
          </a:xfrm>
          <a:prstGeom prst="rect">
            <a:avLst/>
          </a:prstGeom>
          <a:noFill/>
        </p:spPr>
        <p:txBody>
          <a:bodyPr wrap="square" lIns="45720" rIns="45720" tIns="18288" bIns="18288" anchor="t">
            <a:spAutoFit/>
          </a:bodyPr>
          <a:lstStyle/>
          <a:p>
            <a:pPr algn="l"/>
            <a:r>
              <a:rPr sz="1800" b="1">
                <a:solidFill>
                  <a:srgbClr val="1F3864"/>
                </a:solidFill>
                <a:latin typeface="Calibri"/>
              </a:rPr>
              <a:t>Modern real estate platforms use AI, Machine Learning and location data.</a:t>
            </a:r>
          </a:p>
        </p:txBody>
      </p:sp>
      <p:sp>
        <p:nvSpPr>
          <p:cNvPr id="10" name="Rectangle 9"/>
          <p:cNvSpPr/>
          <p:nvPr/>
        </p:nvSpPr>
        <p:spPr>
          <a:xfrm>
            <a:off x="502920" y="1783080"/>
            <a:ext cx="3703320" cy="14173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783080"/>
            <a:ext cx="73152" cy="14173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920240"/>
            <a:ext cx="3429000" cy="411480"/>
          </a:xfrm>
          <a:prstGeom prst="rect">
            <a:avLst/>
          </a:prstGeom>
          <a:noFill/>
        </p:spPr>
        <p:txBody>
          <a:bodyPr wrap="square" lIns="45720" rIns="45720" tIns="18288" bIns="18288" anchor="t">
            <a:spAutoFit/>
          </a:bodyPr>
          <a:lstStyle/>
          <a:p>
            <a:pPr algn="l"/>
            <a:r>
              <a:rPr sz="1300" b="1">
                <a:solidFill>
                  <a:srgbClr val="2E75B6"/>
                </a:solidFill>
                <a:latin typeface="Calibri"/>
              </a:rPr>
              <a:t>Technology Acceptance Model</a:t>
            </a:r>
          </a:p>
        </p:txBody>
      </p:sp>
      <p:sp>
        <p:nvSpPr>
          <p:cNvPr id="13" name="TextBox 12"/>
          <p:cNvSpPr txBox="1"/>
          <p:nvPr/>
        </p:nvSpPr>
        <p:spPr>
          <a:xfrm>
            <a:off x="685800" y="2350008"/>
            <a:ext cx="3429000" cy="777240"/>
          </a:xfrm>
          <a:prstGeom prst="rect">
            <a:avLst/>
          </a:prstGeom>
          <a:noFill/>
        </p:spPr>
        <p:txBody>
          <a:bodyPr wrap="square" lIns="45720" rIns="45720" tIns="18288" bIns="18288" anchor="t">
            <a:spAutoFit/>
          </a:bodyPr>
          <a:lstStyle/>
          <a:p>
            <a:pPr algn="l"/>
            <a:r>
              <a:rPr sz="1100" b="0">
                <a:solidFill>
                  <a:srgbClr val="222222"/>
                </a:solidFill>
                <a:latin typeface="Calibri"/>
              </a:rPr>
              <a:t>Users accept a system more when it is easy to use and clearly useful (Davis, 1989).</a:t>
            </a:r>
          </a:p>
        </p:txBody>
      </p:sp>
      <p:sp>
        <p:nvSpPr>
          <p:cNvPr id="14" name="Rectangle 13"/>
          <p:cNvSpPr/>
          <p:nvPr/>
        </p:nvSpPr>
        <p:spPr>
          <a:xfrm>
            <a:off x="4389120" y="1783080"/>
            <a:ext cx="3703320" cy="14173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783080"/>
            <a:ext cx="73152" cy="1417320"/>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1920240"/>
            <a:ext cx="3429000" cy="411480"/>
          </a:xfrm>
          <a:prstGeom prst="rect">
            <a:avLst/>
          </a:prstGeom>
          <a:noFill/>
        </p:spPr>
        <p:txBody>
          <a:bodyPr wrap="square" lIns="45720" rIns="45720" tIns="18288" bIns="18288" anchor="t">
            <a:spAutoFit/>
          </a:bodyPr>
          <a:lstStyle/>
          <a:p>
            <a:pPr algn="l"/>
            <a:r>
              <a:rPr sz="1300" b="1">
                <a:solidFill>
                  <a:srgbClr val="2F855A"/>
                </a:solidFill>
                <a:latin typeface="Calibri"/>
              </a:rPr>
              <a:t>Human-Computer Interaction</a:t>
            </a:r>
          </a:p>
        </p:txBody>
      </p:sp>
      <p:sp>
        <p:nvSpPr>
          <p:cNvPr id="17" name="TextBox 16"/>
          <p:cNvSpPr txBox="1"/>
          <p:nvPr/>
        </p:nvSpPr>
        <p:spPr>
          <a:xfrm>
            <a:off x="4572000" y="2350008"/>
            <a:ext cx="3429000" cy="777240"/>
          </a:xfrm>
          <a:prstGeom prst="rect">
            <a:avLst/>
          </a:prstGeom>
          <a:noFill/>
        </p:spPr>
        <p:txBody>
          <a:bodyPr wrap="square" lIns="45720" rIns="45720" tIns="18288" bIns="18288" anchor="t">
            <a:spAutoFit/>
          </a:bodyPr>
          <a:lstStyle/>
          <a:p>
            <a:pPr algn="l"/>
            <a:r>
              <a:rPr sz="1100" b="0">
                <a:solidFill>
                  <a:srgbClr val="222222"/>
                </a:solidFill>
                <a:latin typeface="Calibri"/>
              </a:rPr>
              <a:t>Good design makes a system easy and friendly to use (Rogers et al., 2023).</a:t>
            </a:r>
          </a:p>
        </p:txBody>
      </p:sp>
      <p:sp>
        <p:nvSpPr>
          <p:cNvPr id="18" name="Rectangle 17"/>
          <p:cNvSpPr/>
          <p:nvPr/>
        </p:nvSpPr>
        <p:spPr>
          <a:xfrm>
            <a:off x="8275320" y="1783080"/>
            <a:ext cx="3703320" cy="14173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75320" y="1783080"/>
            <a:ext cx="73152" cy="14173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200" y="1920240"/>
            <a:ext cx="3429000" cy="411480"/>
          </a:xfrm>
          <a:prstGeom prst="rect">
            <a:avLst/>
          </a:prstGeom>
          <a:noFill/>
        </p:spPr>
        <p:txBody>
          <a:bodyPr wrap="square" lIns="45720" rIns="45720" tIns="18288" bIns="18288" anchor="t">
            <a:spAutoFit/>
          </a:bodyPr>
          <a:lstStyle/>
          <a:p>
            <a:pPr algn="l"/>
            <a:r>
              <a:rPr sz="1300" b="1">
                <a:solidFill>
                  <a:srgbClr val="D97706"/>
                </a:solidFill>
                <a:latin typeface="Calibri"/>
              </a:rPr>
              <a:t>Diffusion of Innovations</a:t>
            </a:r>
          </a:p>
        </p:txBody>
      </p:sp>
      <p:sp>
        <p:nvSpPr>
          <p:cNvPr id="21" name="TextBox 20"/>
          <p:cNvSpPr txBox="1"/>
          <p:nvPr/>
        </p:nvSpPr>
        <p:spPr>
          <a:xfrm>
            <a:off x="8458200" y="2350008"/>
            <a:ext cx="3429000" cy="777240"/>
          </a:xfrm>
          <a:prstGeom prst="rect">
            <a:avLst/>
          </a:prstGeom>
          <a:noFill/>
        </p:spPr>
        <p:txBody>
          <a:bodyPr wrap="square" lIns="45720" rIns="45720" tIns="18288" bIns="18288" anchor="t">
            <a:spAutoFit/>
          </a:bodyPr>
          <a:lstStyle/>
          <a:p>
            <a:pPr algn="l"/>
            <a:r>
              <a:rPr sz="1100" b="0">
                <a:solidFill>
                  <a:srgbClr val="222222"/>
                </a:solidFill>
                <a:latin typeface="Calibri"/>
              </a:rPr>
              <a:t>New technology spreads when it shows clear benefits over the old way (Rogers, 2003).</a:t>
            </a:r>
          </a:p>
        </p:txBody>
      </p:sp>
      <p:sp>
        <p:nvSpPr>
          <p:cNvPr id="22" name="TextBox 21"/>
          <p:cNvSpPr txBox="1"/>
          <p:nvPr/>
        </p:nvSpPr>
        <p:spPr>
          <a:xfrm>
            <a:off x="502920" y="3383280"/>
            <a:ext cx="11430000" cy="365760"/>
          </a:xfrm>
          <a:prstGeom prst="rect">
            <a:avLst/>
          </a:prstGeom>
          <a:noFill/>
        </p:spPr>
        <p:txBody>
          <a:bodyPr wrap="square" lIns="45720" rIns="45720" tIns="18288" bIns="18288" anchor="t">
            <a:spAutoFit/>
          </a:bodyPr>
          <a:lstStyle/>
          <a:p>
            <a:pPr algn="l"/>
            <a:r>
              <a:rPr sz="1400" b="1">
                <a:solidFill>
                  <a:srgbClr val="1F3864"/>
                </a:solidFill>
                <a:latin typeface="Calibri"/>
              </a:rPr>
              <a:t>🔍  Comparison of Existing Systems</a:t>
            </a:r>
          </a:p>
        </p:txBody>
      </p:sp>
      <p:sp>
        <p:nvSpPr>
          <p:cNvPr id="23" name="Rectangle 22"/>
          <p:cNvSpPr/>
          <p:nvPr/>
        </p:nvSpPr>
        <p:spPr>
          <a:xfrm>
            <a:off x="502920" y="3794760"/>
            <a:ext cx="310896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3794760"/>
            <a:ext cx="3108960" cy="384048"/>
          </a:xfrm>
          <a:prstGeom prst="rect">
            <a:avLst/>
          </a:prstGeom>
          <a:noFill/>
        </p:spPr>
        <p:txBody>
          <a:bodyPr wrap="square" lIns="45720" rIns="45720" tIns="18288" bIns="18288" anchor="ctr">
            <a:spAutoFit/>
          </a:bodyPr>
          <a:lstStyle/>
          <a:p>
            <a:pPr algn="ctr"/>
            <a:r>
              <a:rPr sz="1100" b="1">
                <a:solidFill>
                  <a:srgbClr val="FFFFFF"/>
                </a:solidFill>
                <a:latin typeface="Calibri"/>
              </a:rPr>
              <a:t>Feature</a:t>
            </a:r>
          </a:p>
        </p:txBody>
      </p:sp>
      <p:sp>
        <p:nvSpPr>
          <p:cNvPr id="25" name="Rectangle 24"/>
          <p:cNvSpPr/>
          <p:nvPr/>
        </p:nvSpPr>
        <p:spPr>
          <a:xfrm>
            <a:off x="3611880" y="3794760"/>
            <a:ext cx="201168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3794760"/>
            <a:ext cx="2011680" cy="384048"/>
          </a:xfrm>
          <a:prstGeom prst="rect">
            <a:avLst/>
          </a:prstGeom>
          <a:noFill/>
        </p:spPr>
        <p:txBody>
          <a:bodyPr wrap="square" lIns="45720" rIns="45720" tIns="18288" bIns="18288" anchor="ctr">
            <a:spAutoFit/>
          </a:bodyPr>
          <a:lstStyle/>
          <a:p>
            <a:pPr algn="ctr"/>
            <a:r>
              <a:rPr sz="1100" b="1">
                <a:solidFill>
                  <a:srgbClr val="FFFFFF"/>
                </a:solidFill>
                <a:latin typeface="Calibri"/>
              </a:rPr>
              <a:t>Zillow (USA)</a:t>
            </a:r>
          </a:p>
        </p:txBody>
      </p:sp>
      <p:sp>
        <p:nvSpPr>
          <p:cNvPr id="27" name="Rectangle 26"/>
          <p:cNvSpPr/>
          <p:nvPr/>
        </p:nvSpPr>
        <p:spPr>
          <a:xfrm>
            <a:off x="5623560" y="3794760"/>
            <a:ext cx="201168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23560" y="3794760"/>
            <a:ext cx="2011680" cy="384048"/>
          </a:xfrm>
          <a:prstGeom prst="rect">
            <a:avLst/>
          </a:prstGeom>
          <a:noFill/>
        </p:spPr>
        <p:txBody>
          <a:bodyPr wrap="square" lIns="45720" rIns="45720" tIns="18288" bIns="18288" anchor="ctr">
            <a:spAutoFit/>
          </a:bodyPr>
          <a:lstStyle/>
          <a:p>
            <a:pPr algn="ctr"/>
            <a:r>
              <a:rPr sz="1100" b="1">
                <a:solidFill>
                  <a:srgbClr val="FFFFFF"/>
                </a:solidFill>
                <a:latin typeface="Calibri"/>
              </a:rPr>
              <a:t>Property24 (SA)</a:t>
            </a:r>
          </a:p>
        </p:txBody>
      </p:sp>
      <p:sp>
        <p:nvSpPr>
          <p:cNvPr id="29" name="Rectangle 28"/>
          <p:cNvSpPr/>
          <p:nvPr/>
        </p:nvSpPr>
        <p:spPr>
          <a:xfrm>
            <a:off x="7635240" y="3794760"/>
            <a:ext cx="201168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35240" y="3794760"/>
            <a:ext cx="2011680" cy="384048"/>
          </a:xfrm>
          <a:prstGeom prst="rect">
            <a:avLst/>
          </a:prstGeom>
          <a:noFill/>
        </p:spPr>
        <p:txBody>
          <a:bodyPr wrap="square" lIns="45720" rIns="45720" tIns="18288" bIns="18288" anchor="ctr">
            <a:spAutoFit/>
          </a:bodyPr>
          <a:lstStyle/>
          <a:p>
            <a:pPr algn="ctr"/>
            <a:r>
              <a:rPr sz="1100" b="1">
                <a:solidFill>
                  <a:srgbClr val="FFFFFF"/>
                </a:solidFill>
                <a:latin typeface="Calibri"/>
              </a:rPr>
              <a:t>Local Sites (Rwanda)</a:t>
            </a:r>
          </a:p>
        </p:txBody>
      </p:sp>
      <p:sp>
        <p:nvSpPr>
          <p:cNvPr id="31" name="Rectangle 30"/>
          <p:cNvSpPr/>
          <p:nvPr/>
        </p:nvSpPr>
        <p:spPr>
          <a:xfrm>
            <a:off x="9646920" y="3794760"/>
            <a:ext cx="205740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46920" y="3794760"/>
            <a:ext cx="2057400" cy="384048"/>
          </a:xfrm>
          <a:prstGeom prst="rect">
            <a:avLst/>
          </a:prstGeom>
          <a:noFill/>
        </p:spPr>
        <p:txBody>
          <a:bodyPr wrap="square" lIns="45720" rIns="45720" tIns="18288" bIns="18288" anchor="ctr">
            <a:spAutoFit/>
          </a:bodyPr>
          <a:lstStyle/>
          <a:p>
            <a:pPr algn="ctr"/>
            <a:r>
              <a:rPr sz="1100" b="1">
                <a:solidFill>
                  <a:srgbClr val="FFFFFF"/>
                </a:solidFill>
                <a:latin typeface="Calibri"/>
              </a:rPr>
              <a:t>EstateAI Rwanda</a:t>
            </a:r>
          </a:p>
        </p:txBody>
      </p:sp>
      <p:sp>
        <p:nvSpPr>
          <p:cNvPr id="33" name="Rectangle 32"/>
          <p:cNvSpPr/>
          <p:nvPr/>
        </p:nvSpPr>
        <p:spPr>
          <a:xfrm>
            <a:off x="502920" y="4178808"/>
            <a:ext cx="310896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4178808"/>
            <a:ext cx="3108960" cy="384048"/>
          </a:xfrm>
          <a:prstGeom prst="rect">
            <a:avLst/>
          </a:prstGeom>
          <a:noFill/>
        </p:spPr>
        <p:txBody>
          <a:bodyPr wrap="square" lIns="45720" rIns="45720" tIns="18288" bIns="18288" anchor="ctr">
            <a:spAutoFit/>
          </a:bodyPr>
          <a:lstStyle/>
          <a:p>
            <a:pPr algn="l"/>
            <a:r>
              <a:rPr sz="1100" b="1">
                <a:solidFill>
                  <a:srgbClr val="222222"/>
                </a:solidFill>
                <a:latin typeface="Calibri"/>
              </a:rPr>
              <a:t>AI Price Prediction</a:t>
            </a:r>
          </a:p>
        </p:txBody>
      </p:sp>
      <p:sp>
        <p:nvSpPr>
          <p:cNvPr id="35" name="Rectangle 34"/>
          <p:cNvSpPr/>
          <p:nvPr/>
        </p:nvSpPr>
        <p:spPr>
          <a:xfrm>
            <a:off x="3611880" y="4178808"/>
            <a:ext cx="201168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11880" y="4178808"/>
            <a:ext cx="2011680" cy="384048"/>
          </a:xfrm>
          <a:prstGeom prst="rect">
            <a:avLst/>
          </a:prstGeom>
          <a:noFill/>
        </p:spPr>
        <p:txBody>
          <a:bodyPr wrap="square" lIns="45720" rIns="45720" tIns="18288" bIns="18288" anchor="ctr">
            <a:spAutoFit/>
          </a:bodyPr>
          <a:lstStyle/>
          <a:p>
            <a:pPr algn="ctr"/>
            <a:r>
              <a:rPr sz="1100" b="0">
                <a:solidFill>
                  <a:srgbClr val="2F855A"/>
                </a:solidFill>
                <a:latin typeface="Calibri"/>
              </a:rPr>
              <a:t>Yes</a:t>
            </a:r>
          </a:p>
        </p:txBody>
      </p:sp>
      <p:sp>
        <p:nvSpPr>
          <p:cNvPr id="37" name="Rectangle 36"/>
          <p:cNvSpPr/>
          <p:nvPr/>
        </p:nvSpPr>
        <p:spPr>
          <a:xfrm>
            <a:off x="5623560" y="4178808"/>
            <a:ext cx="201168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23560" y="4178808"/>
            <a:ext cx="2011680" cy="384048"/>
          </a:xfrm>
          <a:prstGeom prst="rect">
            <a:avLst/>
          </a:prstGeom>
          <a:noFill/>
        </p:spPr>
        <p:txBody>
          <a:bodyPr wrap="square" lIns="45720" rIns="45720" tIns="18288" bIns="18288" anchor="ctr">
            <a:spAutoFit/>
          </a:bodyPr>
          <a:lstStyle/>
          <a:p>
            <a:pPr algn="ctr"/>
            <a:r>
              <a:rPr sz="1100" b="0">
                <a:solidFill>
                  <a:srgbClr val="C53030"/>
                </a:solidFill>
                <a:latin typeface="Calibri"/>
              </a:rPr>
              <a:t>No</a:t>
            </a:r>
          </a:p>
        </p:txBody>
      </p:sp>
      <p:sp>
        <p:nvSpPr>
          <p:cNvPr id="39" name="Rectangle 38"/>
          <p:cNvSpPr/>
          <p:nvPr/>
        </p:nvSpPr>
        <p:spPr>
          <a:xfrm>
            <a:off x="7635240" y="4178808"/>
            <a:ext cx="201168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35240" y="4178808"/>
            <a:ext cx="2011680" cy="384048"/>
          </a:xfrm>
          <a:prstGeom prst="rect">
            <a:avLst/>
          </a:prstGeom>
          <a:noFill/>
        </p:spPr>
        <p:txBody>
          <a:bodyPr wrap="square" lIns="45720" rIns="45720" tIns="18288" bIns="18288" anchor="ctr">
            <a:spAutoFit/>
          </a:bodyPr>
          <a:lstStyle/>
          <a:p>
            <a:pPr algn="ctr"/>
            <a:r>
              <a:rPr sz="1100" b="0">
                <a:solidFill>
                  <a:srgbClr val="C53030"/>
                </a:solidFill>
                <a:latin typeface="Calibri"/>
              </a:rPr>
              <a:t>No</a:t>
            </a:r>
          </a:p>
        </p:txBody>
      </p:sp>
      <p:sp>
        <p:nvSpPr>
          <p:cNvPr id="41" name="Rectangle 40"/>
          <p:cNvSpPr/>
          <p:nvPr/>
        </p:nvSpPr>
        <p:spPr>
          <a:xfrm>
            <a:off x="9646920" y="4178808"/>
            <a:ext cx="205740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46920" y="4178808"/>
            <a:ext cx="2057400" cy="384048"/>
          </a:xfrm>
          <a:prstGeom prst="rect">
            <a:avLst/>
          </a:prstGeom>
          <a:noFill/>
        </p:spPr>
        <p:txBody>
          <a:bodyPr wrap="square" lIns="45720" rIns="45720" tIns="18288" bIns="18288" anchor="ctr">
            <a:spAutoFit/>
          </a:bodyPr>
          <a:lstStyle/>
          <a:p>
            <a:pPr algn="ctr"/>
            <a:r>
              <a:rPr sz="1100" b="1">
                <a:solidFill>
                  <a:srgbClr val="2F855A"/>
                </a:solidFill>
                <a:latin typeface="Calibri"/>
              </a:rPr>
              <a:t>Yes</a:t>
            </a:r>
          </a:p>
        </p:txBody>
      </p:sp>
      <p:sp>
        <p:nvSpPr>
          <p:cNvPr id="43" name="Rectangle 42"/>
          <p:cNvSpPr/>
          <p:nvPr/>
        </p:nvSpPr>
        <p:spPr>
          <a:xfrm>
            <a:off x="502920" y="4562856"/>
            <a:ext cx="3108960" cy="384048"/>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562856"/>
            <a:ext cx="3108960" cy="384048"/>
          </a:xfrm>
          <a:prstGeom prst="rect">
            <a:avLst/>
          </a:prstGeom>
          <a:noFill/>
        </p:spPr>
        <p:txBody>
          <a:bodyPr wrap="square" lIns="45720" rIns="45720" tIns="18288" bIns="18288" anchor="ctr">
            <a:spAutoFit/>
          </a:bodyPr>
          <a:lstStyle/>
          <a:p>
            <a:pPr algn="l"/>
            <a:r>
              <a:rPr sz="1100" b="1">
                <a:solidFill>
                  <a:srgbClr val="222222"/>
                </a:solidFill>
                <a:latin typeface="Calibri"/>
              </a:rPr>
              <a:t>Rwandan Geography</a:t>
            </a:r>
          </a:p>
        </p:txBody>
      </p:sp>
      <p:sp>
        <p:nvSpPr>
          <p:cNvPr id="45" name="Rectangle 44"/>
          <p:cNvSpPr/>
          <p:nvPr/>
        </p:nvSpPr>
        <p:spPr>
          <a:xfrm>
            <a:off x="3611880" y="4562856"/>
            <a:ext cx="2011680" cy="384048"/>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11880" y="4562856"/>
            <a:ext cx="2011680" cy="384048"/>
          </a:xfrm>
          <a:prstGeom prst="rect">
            <a:avLst/>
          </a:prstGeom>
          <a:noFill/>
        </p:spPr>
        <p:txBody>
          <a:bodyPr wrap="square" lIns="45720" rIns="45720" tIns="18288" bIns="18288" anchor="ctr">
            <a:spAutoFit/>
          </a:bodyPr>
          <a:lstStyle/>
          <a:p>
            <a:pPr algn="ctr"/>
            <a:r>
              <a:rPr sz="1100" b="0">
                <a:solidFill>
                  <a:srgbClr val="C53030"/>
                </a:solidFill>
                <a:latin typeface="Calibri"/>
              </a:rPr>
              <a:t>No</a:t>
            </a:r>
          </a:p>
        </p:txBody>
      </p:sp>
      <p:sp>
        <p:nvSpPr>
          <p:cNvPr id="47" name="Rectangle 46"/>
          <p:cNvSpPr/>
          <p:nvPr/>
        </p:nvSpPr>
        <p:spPr>
          <a:xfrm>
            <a:off x="5623560" y="4562856"/>
            <a:ext cx="2011680" cy="384048"/>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23560" y="4562856"/>
            <a:ext cx="2011680" cy="384048"/>
          </a:xfrm>
          <a:prstGeom prst="rect">
            <a:avLst/>
          </a:prstGeom>
          <a:noFill/>
        </p:spPr>
        <p:txBody>
          <a:bodyPr wrap="square" lIns="45720" rIns="45720" tIns="18288" bIns="18288" anchor="ctr">
            <a:spAutoFit/>
          </a:bodyPr>
          <a:lstStyle/>
          <a:p>
            <a:pPr algn="ctr"/>
            <a:r>
              <a:rPr sz="1100" b="0">
                <a:solidFill>
                  <a:srgbClr val="C53030"/>
                </a:solidFill>
                <a:latin typeface="Calibri"/>
              </a:rPr>
              <a:t>No</a:t>
            </a:r>
          </a:p>
        </p:txBody>
      </p:sp>
      <p:sp>
        <p:nvSpPr>
          <p:cNvPr id="49" name="Rectangle 48"/>
          <p:cNvSpPr/>
          <p:nvPr/>
        </p:nvSpPr>
        <p:spPr>
          <a:xfrm>
            <a:off x="7635240" y="4562856"/>
            <a:ext cx="2011680" cy="384048"/>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35240" y="4562856"/>
            <a:ext cx="2011680" cy="384048"/>
          </a:xfrm>
          <a:prstGeom prst="rect">
            <a:avLst/>
          </a:prstGeom>
          <a:noFill/>
        </p:spPr>
        <p:txBody>
          <a:bodyPr wrap="square" lIns="45720" rIns="45720" tIns="18288" bIns="18288" anchor="ctr">
            <a:spAutoFit/>
          </a:bodyPr>
          <a:lstStyle/>
          <a:p>
            <a:pPr algn="ctr"/>
            <a:r>
              <a:rPr sz="1100" b="0">
                <a:solidFill>
                  <a:srgbClr val="6B7280"/>
                </a:solidFill>
                <a:latin typeface="Calibri"/>
              </a:rPr>
              <a:t>Limited</a:t>
            </a:r>
          </a:p>
        </p:txBody>
      </p:sp>
      <p:sp>
        <p:nvSpPr>
          <p:cNvPr id="51" name="Rectangle 50"/>
          <p:cNvSpPr/>
          <p:nvPr/>
        </p:nvSpPr>
        <p:spPr>
          <a:xfrm>
            <a:off x="9646920" y="4562856"/>
            <a:ext cx="2057400" cy="384048"/>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46920" y="4562856"/>
            <a:ext cx="2057400" cy="384048"/>
          </a:xfrm>
          <a:prstGeom prst="rect">
            <a:avLst/>
          </a:prstGeom>
          <a:noFill/>
        </p:spPr>
        <p:txBody>
          <a:bodyPr wrap="square" lIns="45720" rIns="45720" tIns="18288" bIns="18288" anchor="ctr">
            <a:spAutoFit/>
          </a:bodyPr>
          <a:lstStyle/>
          <a:p>
            <a:pPr algn="ctr"/>
            <a:r>
              <a:rPr sz="1100" b="1">
                <a:solidFill>
                  <a:srgbClr val="2F855A"/>
                </a:solidFill>
                <a:latin typeface="Calibri"/>
              </a:rPr>
              <a:t>Yes</a:t>
            </a:r>
          </a:p>
        </p:txBody>
      </p:sp>
      <p:sp>
        <p:nvSpPr>
          <p:cNvPr id="53" name="Rectangle 52"/>
          <p:cNvSpPr/>
          <p:nvPr/>
        </p:nvSpPr>
        <p:spPr>
          <a:xfrm>
            <a:off x="502920" y="4946904"/>
            <a:ext cx="310896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2920" y="4946904"/>
            <a:ext cx="3108960" cy="384048"/>
          </a:xfrm>
          <a:prstGeom prst="rect">
            <a:avLst/>
          </a:prstGeom>
          <a:noFill/>
        </p:spPr>
        <p:txBody>
          <a:bodyPr wrap="square" lIns="45720" rIns="45720" tIns="18288" bIns="18288" anchor="ctr">
            <a:spAutoFit/>
          </a:bodyPr>
          <a:lstStyle/>
          <a:p>
            <a:pPr algn="l"/>
            <a:r>
              <a:rPr sz="1100" b="1">
                <a:solidFill>
                  <a:srgbClr val="222222"/>
                </a:solidFill>
                <a:latin typeface="Calibri"/>
              </a:rPr>
              <a:t>Mobile Application</a:t>
            </a:r>
          </a:p>
        </p:txBody>
      </p:sp>
      <p:sp>
        <p:nvSpPr>
          <p:cNvPr id="55" name="Rectangle 54"/>
          <p:cNvSpPr/>
          <p:nvPr/>
        </p:nvSpPr>
        <p:spPr>
          <a:xfrm>
            <a:off x="3611880" y="4946904"/>
            <a:ext cx="201168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611880" y="4946904"/>
            <a:ext cx="2011680" cy="384048"/>
          </a:xfrm>
          <a:prstGeom prst="rect">
            <a:avLst/>
          </a:prstGeom>
          <a:noFill/>
        </p:spPr>
        <p:txBody>
          <a:bodyPr wrap="square" lIns="45720" rIns="45720" tIns="18288" bIns="18288" anchor="ctr">
            <a:spAutoFit/>
          </a:bodyPr>
          <a:lstStyle/>
          <a:p>
            <a:pPr algn="ctr"/>
            <a:r>
              <a:rPr sz="1100" b="0">
                <a:solidFill>
                  <a:srgbClr val="2F855A"/>
                </a:solidFill>
                <a:latin typeface="Calibri"/>
              </a:rPr>
              <a:t>Yes</a:t>
            </a:r>
          </a:p>
        </p:txBody>
      </p:sp>
      <p:sp>
        <p:nvSpPr>
          <p:cNvPr id="57" name="Rectangle 56"/>
          <p:cNvSpPr/>
          <p:nvPr/>
        </p:nvSpPr>
        <p:spPr>
          <a:xfrm>
            <a:off x="5623560" y="4946904"/>
            <a:ext cx="201168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23560" y="4946904"/>
            <a:ext cx="2011680" cy="384048"/>
          </a:xfrm>
          <a:prstGeom prst="rect">
            <a:avLst/>
          </a:prstGeom>
          <a:noFill/>
        </p:spPr>
        <p:txBody>
          <a:bodyPr wrap="square" lIns="45720" rIns="45720" tIns="18288" bIns="18288" anchor="ctr">
            <a:spAutoFit/>
          </a:bodyPr>
          <a:lstStyle/>
          <a:p>
            <a:pPr algn="ctr"/>
            <a:r>
              <a:rPr sz="1100" b="0">
                <a:solidFill>
                  <a:srgbClr val="2F855A"/>
                </a:solidFill>
                <a:latin typeface="Calibri"/>
              </a:rPr>
              <a:t>Yes</a:t>
            </a:r>
          </a:p>
        </p:txBody>
      </p:sp>
      <p:sp>
        <p:nvSpPr>
          <p:cNvPr id="59" name="Rectangle 58"/>
          <p:cNvSpPr/>
          <p:nvPr/>
        </p:nvSpPr>
        <p:spPr>
          <a:xfrm>
            <a:off x="7635240" y="4946904"/>
            <a:ext cx="201168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35240" y="4946904"/>
            <a:ext cx="2011680" cy="384048"/>
          </a:xfrm>
          <a:prstGeom prst="rect">
            <a:avLst/>
          </a:prstGeom>
          <a:noFill/>
        </p:spPr>
        <p:txBody>
          <a:bodyPr wrap="square" lIns="45720" rIns="45720" tIns="18288" bIns="18288" anchor="ctr">
            <a:spAutoFit/>
          </a:bodyPr>
          <a:lstStyle/>
          <a:p>
            <a:pPr algn="ctr"/>
            <a:r>
              <a:rPr sz="1100" b="0">
                <a:solidFill>
                  <a:srgbClr val="6B7280"/>
                </a:solidFill>
                <a:latin typeface="Calibri"/>
              </a:rPr>
              <a:t>Limited</a:t>
            </a:r>
          </a:p>
        </p:txBody>
      </p:sp>
      <p:sp>
        <p:nvSpPr>
          <p:cNvPr id="61" name="Rectangle 60"/>
          <p:cNvSpPr/>
          <p:nvPr/>
        </p:nvSpPr>
        <p:spPr>
          <a:xfrm>
            <a:off x="9646920" y="4946904"/>
            <a:ext cx="205740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646920" y="4946904"/>
            <a:ext cx="2057400" cy="384048"/>
          </a:xfrm>
          <a:prstGeom prst="rect">
            <a:avLst/>
          </a:prstGeom>
          <a:noFill/>
        </p:spPr>
        <p:txBody>
          <a:bodyPr wrap="square" lIns="45720" rIns="45720" tIns="18288" bIns="18288" anchor="ctr">
            <a:spAutoFit/>
          </a:bodyPr>
          <a:lstStyle/>
          <a:p>
            <a:pPr algn="ctr"/>
            <a:r>
              <a:rPr sz="1100" b="1">
                <a:solidFill>
                  <a:srgbClr val="2F855A"/>
                </a:solidFill>
                <a:latin typeface="Calibri"/>
              </a:rPr>
              <a:t>Yes</a:t>
            </a:r>
          </a:p>
        </p:txBody>
      </p:sp>
      <p:sp>
        <p:nvSpPr>
          <p:cNvPr id="63" name="Rectangle 62"/>
          <p:cNvSpPr/>
          <p:nvPr/>
        </p:nvSpPr>
        <p:spPr>
          <a:xfrm>
            <a:off x="502920" y="5330952"/>
            <a:ext cx="3108960" cy="384048"/>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2920" y="5330952"/>
            <a:ext cx="3108960" cy="384048"/>
          </a:xfrm>
          <a:prstGeom prst="rect">
            <a:avLst/>
          </a:prstGeom>
          <a:noFill/>
        </p:spPr>
        <p:txBody>
          <a:bodyPr wrap="square" lIns="45720" rIns="45720" tIns="18288" bIns="18288" anchor="ctr">
            <a:spAutoFit/>
          </a:bodyPr>
          <a:lstStyle/>
          <a:p>
            <a:pPr algn="l"/>
            <a:r>
              <a:rPr sz="1100" b="1">
                <a:solidFill>
                  <a:srgbClr val="222222"/>
                </a:solidFill>
                <a:latin typeface="Calibri"/>
              </a:rPr>
              <a:t>Mobile Money</a:t>
            </a:r>
          </a:p>
        </p:txBody>
      </p:sp>
      <p:sp>
        <p:nvSpPr>
          <p:cNvPr id="65" name="Rectangle 64"/>
          <p:cNvSpPr/>
          <p:nvPr/>
        </p:nvSpPr>
        <p:spPr>
          <a:xfrm>
            <a:off x="3611880" y="5330952"/>
            <a:ext cx="2011680" cy="384048"/>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11880" y="5330952"/>
            <a:ext cx="2011680" cy="384048"/>
          </a:xfrm>
          <a:prstGeom prst="rect">
            <a:avLst/>
          </a:prstGeom>
          <a:noFill/>
        </p:spPr>
        <p:txBody>
          <a:bodyPr wrap="square" lIns="45720" rIns="45720" tIns="18288" bIns="18288" anchor="ctr">
            <a:spAutoFit/>
          </a:bodyPr>
          <a:lstStyle/>
          <a:p>
            <a:pPr algn="ctr"/>
            <a:r>
              <a:rPr sz="1100" b="0">
                <a:solidFill>
                  <a:srgbClr val="C53030"/>
                </a:solidFill>
                <a:latin typeface="Calibri"/>
              </a:rPr>
              <a:t>No</a:t>
            </a:r>
          </a:p>
        </p:txBody>
      </p:sp>
      <p:sp>
        <p:nvSpPr>
          <p:cNvPr id="67" name="Rectangle 66"/>
          <p:cNvSpPr/>
          <p:nvPr/>
        </p:nvSpPr>
        <p:spPr>
          <a:xfrm>
            <a:off x="5623560" y="5330952"/>
            <a:ext cx="2011680" cy="384048"/>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623560" y="5330952"/>
            <a:ext cx="2011680" cy="384048"/>
          </a:xfrm>
          <a:prstGeom prst="rect">
            <a:avLst/>
          </a:prstGeom>
          <a:noFill/>
        </p:spPr>
        <p:txBody>
          <a:bodyPr wrap="square" lIns="45720" rIns="45720" tIns="18288" bIns="18288" anchor="ctr">
            <a:spAutoFit/>
          </a:bodyPr>
          <a:lstStyle/>
          <a:p>
            <a:pPr algn="ctr"/>
            <a:r>
              <a:rPr sz="1100" b="0">
                <a:solidFill>
                  <a:srgbClr val="C53030"/>
                </a:solidFill>
                <a:latin typeface="Calibri"/>
              </a:rPr>
              <a:t>No</a:t>
            </a:r>
          </a:p>
        </p:txBody>
      </p:sp>
      <p:sp>
        <p:nvSpPr>
          <p:cNvPr id="69" name="Rectangle 68"/>
          <p:cNvSpPr/>
          <p:nvPr/>
        </p:nvSpPr>
        <p:spPr>
          <a:xfrm>
            <a:off x="7635240" y="5330952"/>
            <a:ext cx="2011680" cy="384048"/>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635240" y="5330952"/>
            <a:ext cx="2011680" cy="384048"/>
          </a:xfrm>
          <a:prstGeom prst="rect">
            <a:avLst/>
          </a:prstGeom>
          <a:noFill/>
        </p:spPr>
        <p:txBody>
          <a:bodyPr wrap="square" lIns="45720" rIns="45720" tIns="18288" bIns="18288" anchor="ctr">
            <a:spAutoFit/>
          </a:bodyPr>
          <a:lstStyle/>
          <a:p>
            <a:pPr algn="ctr"/>
            <a:r>
              <a:rPr sz="1100" b="0">
                <a:solidFill>
                  <a:srgbClr val="C53030"/>
                </a:solidFill>
                <a:latin typeface="Calibri"/>
              </a:rPr>
              <a:t>No</a:t>
            </a:r>
          </a:p>
        </p:txBody>
      </p:sp>
      <p:sp>
        <p:nvSpPr>
          <p:cNvPr id="71" name="Rectangle 70"/>
          <p:cNvSpPr/>
          <p:nvPr/>
        </p:nvSpPr>
        <p:spPr>
          <a:xfrm>
            <a:off x="9646920" y="5330952"/>
            <a:ext cx="2057400" cy="384048"/>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646920" y="5330952"/>
            <a:ext cx="2057400" cy="384048"/>
          </a:xfrm>
          <a:prstGeom prst="rect">
            <a:avLst/>
          </a:prstGeom>
          <a:noFill/>
        </p:spPr>
        <p:txBody>
          <a:bodyPr wrap="square" lIns="45720" rIns="45720" tIns="18288" bIns="18288" anchor="ctr">
            <a:spAutoFit/>
          </a:bodyPr>
          <a:lstStyle/>
          <a:p>
            <a:pPr algn="ctr"/>
            <a:r>
              <a:rPr sz="1100" b="1">
                <a:solidFill>
                  <a:srgbClr val="2F855A"/>
                </a:solidFill>
                <a:latin typeface="Calibri"/>
              </a:rPr>
              <a:t>Yes</a:t>
            </a:r>
          </a:p>
        </p:txBody>
      </p:sp>
      <p:sp>
        <p:nvSpPr>
          <p:cNvPr id="73" name="Rectangle 72"/>
          <p:cNvSpPr/>
          <p:nvPr/>
        </p:nvSpPr>
        <p:spPr>
          <a:xfrm>
            <a:off x="502920" y="5715000"/>
            <a:ext cx="310896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02920" y="5715000"/>
            <a:ext cx="3108960" cy="384048"/>
          </a:xfrm>
          <a:prstGeom prst="rect">
            <a:avLst/>
          </a:prstGeom>
          <a:noFill/>
        </p:spPr>
        <p:txBody>
          <a:bodyPr wrap="square" lIns="45720" rIns="45720" tIns="18288" bIns="18288" anchor="ctr">
            <a:spAutoFit/>
          </a:bodyPr>
          <a:lstStyle/>
          <a:p>
            <a:pPr algn="l"/>
            <a:r>
              <a:rPr sz="1100" b="1">
                <a:solidFill>
                  <a:srgbClr val="222222"/>
                </a:solidFill>
                <a:latin typeface="Calibri"/>
              </a:rPr>
              <a:t>Admin Moderation</a:t>
            </a:r>
          </a:p>
        </p:txBody>
      </p:sp>
      <p:sp>
        <p:nvSpPr>
          <p:cNvPr id="75" name="Rectangle 74"/>
          <p:cNvSpPr/>
          <p:nvPr/>
        </p:nvSpPr>
        <p:spPr>
          <a:xfrm>
            <a:off x="3611880" y="5715000"/>
            <a:ext cx="201168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611880" y="5715000"/>
            <a:ext cx="2011680" cy="384048"/>
          </a:xfrm>
          <a:prstGeom prst="rect">
            <a:avLst/>
          </a:prstGeom>
          <a:noFill/>
        </p:spPr>
        <p:txBody>
          <a:bodyPr wrap="square" lIns="45720" rIns="45720" tIns="18288" bIns="18288" anchor="ctr">
            <a:spAutoFit/>
          </a:bodyPr>
          <a:lstStyle/>
          <a:p>
            <a:pPr algn="ctr"/>
            <a:r>
              <a:rPr sz="1100" b="0">
                <a:solidFill>
                  <a:srgbClr val="2F855A"/>
                </a:solidFill>
                <a:latin typeface="Calibri"/>
              </a:rPr>
              <a:t>Yes</a:t>
            </a:r>
          </a:p>
        </p:txBody>
      </p:sp>
      <p:sp>
        <p:nvSpPr>
          <p:cNvPr id="77" name="Rectangle 76"/>
          <p:cNvSpPr/>
          <p:nvPr/>
        </p:nvSpPr>
        <p:spPr>
          <a:xfrm>
            <a:off x="5623560" y="5715000"/>
            <a:ext cx="201168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23560" y="5715000"/>
            <a:ext cx="2011680" cy="384048"/>
          </a:xfrm>
          <a:prstGeom prst="rect">
            <a:avLst/>
          </a:prstGeom>
          <a:noFill/>
        </p:spPr>
        <p:txBody>
          <a:bodyPr wrap="square" lIns="45720" rIns="45720" tIns="18288" bIns="18288" anchor="ctr">
            <a:spAutoFit/>
          </a:bodyPr>
          <a:lstStyle/>
          <a:p>
            <a:pPr algn="ctr"/>
            <a:r>
              <a:rPr sz="1100" b="0">
                <a:solidFill>
                  <a:srgbClr val="2F855A"/>
                </a:solidFill>
                <a:latin typeface="Calibri"/>
              </a:rPr>
              <a:t>Yes</a:t>
            </a:r>
          </a:p>
        </p:txBody>
      </p:sp>
      <p:sp>
        <p:nvSpPr>
          <p:cNvPr id="79" name="Rectangle 78"/>
          <p:cNvSpPr/>
          <p:nvPr/>
        </p:nvSpPr>
        <p:spPr>
          <a:xfrm>
            <a:off x="7635240" y="5715000"/>
            <a:ext cx="201168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635240" y="5715000"/>
            <a:ext cx="2011680" cy="384048"/>
          </a:xfrm>
          <a:prstGeom prst="rect">
            <a:avLst/>
          </a:prstGeom>
          <a:noFill/>
        </p:spPr>
        <p:txBody>
          <a:bodyPr wrap="square" lIns="45720" rIns="45720" tIns="18288" bIns="18288" anchor="ctr">
            <a:spAutoFit/>
          </a:bodyPr>
          <a:lstStyle/>
          <a:p>
            <a:pPr algn="ctr"/>
            <a:r>
              <a:rPr sz="1100" b="0">
                <a:solidFill>
                  <a:srgbClr val="6B7280"/>
                </a:solidFill>
                <a:latin typeface="Calibri"/>
              </a:rPr>
              <a:t>Limited</a:t>
            </a:r>
          </a:p>
        </p:txBody>
      </p:sp>
      <p:sp>
        <p:nvSpPr>
          <p:cNvPr id="81" name="Rectangle 80"/>
          <p:cNvSpPr/>
          <p:nvPr/>
        </p:nvSpPr>
        <p:spPr>
          <a:xfrm>
            <a:off x="9646920" y="5715000"/>
            <a:ext cx="2057400" cy="384048"/>
          </a:xfrm>
          <a:prstGeom prst="rect">
            <a:avLst/>
          </a:prstGeom>
          <a:solidFill>
            <a:srgbClr val="F5F7FA"/>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646920" y="5715000"/>
            <a:ext cx="2057400" cy="384048"/>
          </a:xfrm>
          <a:prstGeom prst="rect">
            <a:avLst/>
          </a:prstGeom>
          <a:noFill/>
        </p:spPr>
        <p:txBody>
          <a:bodyPr wrap="square" lIns="45720" rIns="45720" tIns="18288" bIns="18288" anchor="ctr">
            <a:spAutoFit/>
          </a:bodyPr>
          <a:lstStyle/>
          <a:p>
            <a:pPr algn="ctr"/>
            <a:r>
              <a:rPr sz="1100" b="1">
                <a:solidFill>
                  <a:srgbClr val="2F855A"/>
                </a:solidFill>
                <a:latin typeface="Calibri"/>
              </a:rPr>
              <a:t>Yes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37160" cy="58978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lIns="45720" rIns="45720" tIns="18288" bIns="18288" anchor="t">
            <a:spAutoFit/>
          </a:bodyPr>
          <a:lstStyle/>
          <a:p>
            <a:pPr algn="l"/>
            <a:r>
              <a:rPr sz="2800" b="1">
                <a:solidFill>
                  <a:srgbClr val="FFFFFF"/>
                </a:solidFill>
                <a:latin typeface="Calibri"/>
              </a:rPr>
              <a:t>Methodology</a:t>
            </a:r>
          </a:p>
        </p:txBody>
      </p:sp>
      <p:sp>
        <p:nvSpPr>
          <p:cNvPr id="5" name="TextBox 4"/>
          <p:cNvSpPr txBox="1"/>
          <p:nvPr/>
        </p:nvSpPr>
        <p:spPr>
          <a:xfrm>
            <a:off x="502920" y="603504"/>
            <a:ext cx="10515600" cy="329184"/>
          </a:xfrm>
          <a:prstGeom prst="rect">
            <a:avLst/>
          </a:prstGeom>
          <a:noFill/>
        </p:spPr>
        <p:txBody>
          <a:bodyPr wrap="square" lIns="45720" rIns="45720" tIns="18288" bIns="18288" anchor="t">
            <a:spAutoFit/>
          </a:bodyPr>
          <a:lstStyle/>
          <a:p>
            <a:pPr algn="l"/>
            <a:r>
              <a:rPr sz="1300" b="0">
                <a:solidFill>
                  <a:srgbClr val="CCD6E6"/>
                </a:solidFill>
                <a:latin typeface="Calibri"/>
              </a:rPr>
              <a:t>How the project was done</a:t>
            </a:r>
          </a:p>
        </p:txBody>
      </p:sp>
      <p:sp>
        <p:nvSpPr>
          <p:cNvPr id="6" name="Rectangle 5"/>
          <p:cNvSpPr/>
          <p:nvPr/>
        </p:nvSpPr>
        <p:spPr>
          <a:xfrm>
            <a:off x="0" y="6537960"/>
            <a:ext cx="12191695" cy="3200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74320"/>
          </a:xfrm>
          <a:prstGeom prst="rect">
            <a:avLst/>
          </a:prstGeom>
          <a:noFill/>
        </p:spPr>
        <p:txBody>
          <a:bodyPr wrap="square" lIns="45720" rIns="45720" tIns="18288" bIns="18288" anchor="t">
            <a:spAutoFit/>
          </a:bodyPr>
          <a:lstStyle/>
          <a:p>
            <a:pPr algn="l"/>
            <a:r>
              <a:rPr sz="1000" b="0">
                <a:solidFill>
                  <a:srgbClr val="FFFFFF"/>
                </a:solidFill>
                <a:latin typeface="Calibri"/>
              </a:rPr>
              <a:t>EstateAI Rwanda  ·  AI-Based Property Valuation System</a:t>
            </a:r>
          </a:p>
        </p:txBody>
      </p:sp>
      <p:sp>
        <p:nvSpPr>
          <p:cNvPr id="8" name="TextBox 7"/>
          <p:cNvSpPr txBox="1"/>
          <p:nvPr/>
        </p:nvSpPr>
        <p:spPr>
          <a:xfrm>
            <a:off x="11521440" y="6565392"/>
            <a:ext cx="548640" cy="274320"/>
          </a:xfrm>
          <a:prstGeom prst="rect">
            <a:avLst/>
          </a:prstGeom>
          <a:noFill/>
        </p:spPr>
        <p:txBody>
          <a:bodyPr wrap="square" lIns="45720" rIns="45720" tIns="18288" bIns="18288" anchor="t">
            <a:spAutoFit/>
          </a:bodyPr>
          <a:lstStyle/>
          <a:p>
            <a:pPr algn="r"/>
            <a:r>
              <a:rPr sz="1000" b="1">
                <a:solidFill>
                  <a:srgbClr val="FFFFFF"/>
                </a:solidFill>
                <a:latin typeface="Calibri"/>
              </a:rPr>
              <a:t>6 / 10</a:t>
            </a:r>
          </a:p>
        </p:txBody>
      </p:sp>
      <p:sp>
        <p:nvSpPr>
          <p:cNvPr id="9" name="TextBox 8"/>
          <p:cNvSpPr txBox="1"/>
          <p:nvPr/>
        </p:nvSpPr>
        <p:spPr>
          <a:xfrm>
            <a:off x="502920" y="1143000"/>
            <a:ext cx="11430000" cy="502920"/>
          </a:xfrm>
          <a:prstGeom prst="rect">
            <a:avLst/>
          </a:prstGeom>
          <a:noFill/>
        </p:spPr>
        <p:txBody>
          <a:bodyPr wrap="square" lIns="45720" rIns="45720" tIns="18288" bIns="18288" anchor="t">
            <a:spAutoFit/>
          </a:bodyPr>
          <a:lstStyle/>
          <a:p>
            <a:pPr algn="l"/>
            <a:r>
              <a:rPr sz="1800" b="1">
                <a:solidFill>
                  <a:srgbClr val="1F3864"/>
                </a:solidFill>
                <a:latin typeface="Calibri"/>
              </a:rPr>
              <a:t>Qualitative and developmental research + Agile software development.</a:t>
            </a:r>
          </a:p>
        </p:txBody>
      </p:sp>
      <p:sp>
        <p:nvSpPr>
          <p:cNvPr id="10" name="Rectangle 9"/>
          <p:cNvSpPr/>
          <p:nvPr/>
        </p:nvSpPr>
        <p:spPr>
          <a:xfrm>
            <a:off x="502920" y="1828800"/>
            <a:ext cx="5486400" cy="448056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828800"/>
            <a:ext cx="5486400" cy="4572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874519"/>
            <a:ext cx="5486400" cy="365760"/>
          </a:xfrm>
          <a:prstGeom prst="rect">
            <a:avLst/>
          </a:prstGeom>
          <a:noFill/>
        </p:spPr>
        <p:txBody>
          <a:bodyPr wrap="square" lIns="45720" rIns="45720" tIns="18288" bIns="18288" anchor="ctr">
            <a:spAutoFit/>
          </a:bodyPr>
          <a:lstStyle/>
          <a:p>
            <a:pPr algn="l"/>
            <a:r>
              <a:rPr sz="1400" b="1">
                <a:solidFill>
                  <a:srgbClr val="FFFFFF"/>
                </a:solidFill>
                <a:latin typeface="Calibri"/>
              </a:rPr>
              <a:t>🔬  Research Design</a:t>
            </a:r>
          </a:p>
        </p:txBody>
      </p:sp>
      <p:sp>
        <p:nvSpPr>
          <p:cNvPr id="13" name="TextBox 12"/>
          <p:cNvSpPr txBox="1"/>
          <p:nvPr/>
        </p:nvSpPr>
        <p:spPr>
          <a:xfrm>
            <a:off x="640080" y="2377440"/>
            <a:ext cx="5212080" cy="365760"/>
          </a:xfrm>
          <a:prstGeom prst="rect">
            <a:avLst/>
          </a:prstGeom>
          <a:noFill/>
        </p:spPr>
        <p:txBody>
          <a:bodyPr wrap="square" lIns="45720" rIns="45720" tIns="18288" bIns="18288" anchor="t">
            <a:spAutoFit/>
          </a:bodyPr>
          <a:lstStyle/>
          <a:p>
            <a:pPr algn="l"/>
            <a:r>
              <a:rPr sz="1200" b="1">
                <a:solidFill>
                  <a:srgbClr val="1F3864"/>
                </a:solidFill>
                <a:latin typeface="Calibri"/>
              </a:rPr>
              <a:t>Case study: Kigali City real estate market</a:t>
            </a:r>
          </a:p>
        </p:txBody>
      </p:sp>
      <p:sp>
        <p:nvSpPr>
          <p:cNvPr id="14" name="TextBox 13"/>
          <p:cNvSpPr txBox="1"/>
          <p:nvPr/>
        </p:nvSpPr>
        <p:spPr>
          <a:xfrm>
            <a:off x="640080" y="2788920"/>
            <a:ext cx="5212080" cy="3383280"/>
          </a:xfrm>
          <a:prstGeom prst="rect">
            <a:avLst/>
          </a:prstGeom>
          <a:noFill/>
        </p:spPr>
        <p:txBody>
          <a:bodyPr wrap="square" lIns="45720" rIns="45720">
            <a:spAutoFit/>
          </a:bodyPr>
          <a:lstStyle/>
          <a:p>
            <a:pPr algn="l">
              <a:spcAft>
                <a:spcPts val="600"/>
              </a:spcAft>
            </a:pPr>
            <a:r>
              <a:rPr sz="1400" b="1">
                <a:solidFill>
                  <a:srgbClr val="1F3864"/>
                </a:solidFill>
                <a:latin typeface="Calibri"/>
              </a:rPr>
              <a:t>• </a:t>
            </a:r>
            <a:r>
              <a:rPr sz="1200">
                <a:solidFill>
                  <a:srgbClr val="222222"/>
                </a:solidFill>
                <a:latin typeface="Calibri"/>
              </a:rPr>
              <a:t>Qualitative approach to find market challenges.</a:t>
            </a:r>
          </a:p>
          <a:p>
            <a:pPr algn="l">
              <a:spcAft>
                <a:spcPts val="600"/>
              </a:spcAft>
            </a:pPr>
            <a:r>
              <a:rPr sz="1400" b="1">
                <a:solidFill>
                  <a:srgbClr val="1F3864"/>
                </a:solidFill>
                <a:latin typeface="Calibri"/>
              </a:rPr>
              <a:t>• </a:t>
            </a:r>
            <a:r>
              <a:rPr sz="1200">
                <a:solidFill>
                  <a:srgbClr val="222222"/>
                </a:solidFill>
                <a:latin typeface="Calibri"/>
              </a:rPr>
              <a:t>Developmental approach to design and build the system.</a:t>
            </a:r>
          </a:p>
          <a:p>
            <a:pPr algn="l">
              <a:spcAft>
                <a:spcPts val="600"/>
              </a:spcAft>
            </a:pPr>
            <a:r>
              <a:rPr sz="1400" b="1">
                <a:solidFill>
                  <a:srgbClr val="1F3864"/>
                </a:solidFill>
                <a:latin typeface="Calibri"/>
              </a:rPr>
              <a:t>• </a:t>
            </a:r>
            <a:r>
              <a:rPr sz="1200">
                <a:solidFill>
                  <a:srgbClr val="222222"/>
                </a:solidFill>
                <a:latin typeface="Calibri"/>
              </a:rPr>
              <a:t>Data Collection: interviews, observation, document review.</a:t>
            </a:r>
          </a:p>
          <a:p>
            <a:pPr algn="l">
              <a:spcAft>
                <a:spcPts val="600"/>
              </a:spcAft>
            </a:pPr>
            <a:r>
              <a:rPr sz="1400" b="1">
                <a:solidFill>
                  <a:srgbClr val="1F3864"/>
                </a:solidFill>
                <a:latin typeface="Calibri"/>
              </a:rPr>
              <a:t>• </a:t>
            </a:r>
            <a:r>
              <a:rPr sz="1200">
                <a:solidFill>
                  <a:srgbClr val="222222"/>
                </a:solidFill>
                <a:latin typeface="Calibri"/>
              </a:rPr>
              <a:t>Analysis: comparative analysis of existing systems.</a:t>
            </a:r>
          </a:p>
          <a:p>
            <a:pPr algn="l">
              <a:spcAft>
                <a:spcPts val="600"/>
              </a:spcAft>
            </a:pPr>
            <a:r>
              <a:rPr sz="1400" b="1">
                <a:solidFill>
                  <a:srgbClr val="1F3864"/>
                </a:solidFill>
                <a:latin typeface="Calibri"/>
              </a:rPr>
              <a:t>• </a:t>
            </a:r>
            <a:r>
              <a:rPr sz="1200">
                <a:solidFill>
                  <a:srgbClr val="222222"/>
                </a:solidFill>
                <a:latin typeface="Calibri"/>
              </a:rPr>
              <a:t>Sample: 20 participants (buyers, sellers, renters, agents, admins, IT pros).</a:t>
            </a:r>
          </a:p>
          <a:p>
            <a:pPr algn="l">
              <a:spcAft>
                <a:spcPts val="600"/>
              </a:spcAft>
            </a:pPr>
            <a:r>
              <a:rPr sz="1400" b="1">
                <a:solidFill>
                  <a:srgbClr val="1F3864"/>
                </a:solidFill>
                <a:latin typeface="Calibri"/>
              </a:rPr>
              <a:t>• </a:t>
            </a:r>
            <a:r>
              <a:rPr sz="1200">
                <a:solidFill>
                  <a:srgbClr val="222222"/>
                </a:solidFill>
                <a:latin typeface="Calibri"/>
              </a:rPr>
              <a:t>Ethics: voluntary participation, confidentiality respected.</a:t>
            </a:r>
          </a:p>
        </p:txBody>
      </p:sp>
      <p:sp>
        <p:nvSpPr>
          <p:cNvPr id="15" name="Rectangle 14"/>
          <p:cNvSpPr/>
          <p:nvPr/>
        </p:nvSpPr>
        <p:spPr>
          <a:xfrm>
            <a:off x="6263640" y="1828800"/>
            <a:ext cx="5486400" cy="448056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828800"/>
            <a:ext cx="5486400" cy="457200"/>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874519"/>
            <a:ext cx="5486400" cy="365760"/>
          </a:xfrm>
          <a:prstGeom prst="rect">
            <a:avLst/>
          </a:prstGeom>
          <a:noFill/>
        </p:spPr>
        <p:txBody>
          <a:bodyPr wrap="square" lIns="45720" rIns="45720" tIns="18288" bIns="18288" anchor="ctr">
            <a:spAutoFit/>
          </a:bodyPr>
          <a:lstStyle/>
          <a:p>
            <a:pPr algn="l"/>
            <a:r>
              <a:rPr sz="1400" b="1">
                <a:solidFill>
                  <a:srgbClr val="FFFFFF"/>
                </a:solidFill>
                <a:latin typeface="Calibri"/>
              </a:rPr>
              <a:t>⚙️  Agile Development</a:t>
            </a:r>
          </a:p>
        </p:txBody>
      </p:sp>
      <p:sp>
        <p:nvSpPr>
          <p:cNvPr id="18" name="TextBox 17"/>
          <p:cNvSpPr txBox="1"/>
          <p:nvPr/>
        </p:nvSpPr>
        <p:spPr>
          <a:xfrm>
            <a:off x="6400800" y="2377440"/>
            <a:ext cx="5212080" cy="365760"/>
          </a:xfrm>
          <a:prstGeom prst="rect">
            <a:avLst/>
          </a:prstGeom>
          <a:noFill/>
        </p:spPr>
        <p:txBody>
          <a:bodyPr wrap="square" lIns="45720" rIns="45720" tIns="18288" bIns="18288" anchor="t">
            <a:spAutoFit/>
          </a:bodyPr>
          <a:lstStyle/>
          <a:p>
            <a:pPr algn="l"/>
            <a:r>
              <a:rPr sz="1200" b="1">
                <a:solidFill>
                  <a:srgbClr val="2F855A"/>
                </a:solidFill>
                <a:latin typeface="Calibri"/>
              </a:rPr>
              <a:t>Build, test and improve in small steps</a:t>
            </a:r>
          </a:p>
        </p:txBody>
      </p:sp>
      <p:sp>
        <p:nvSpPr>
          <p:cNvPr id="19" name="TextBox 18"/>
          <p:cNvSpPr txBox="1"/>
          <p:nvPr/>
        </p:nvSpPr>
        <p:spPr>
          <a:xfrm>
            <a:off x="6400800" y="2788920"/>
            <a:ext cx="5212080" cy="3383280"/>
          </a:xfrm>
          <a:prstGeom prst="rect">
            <a:avLst/>
          </a:prstGeom>
          <a:noFill/>
        </p:spPr>
        <p:txBody>
          <a:bodyPr wrap="square" lIns="45720" rIns="45720">
            <a:spAutoFit/>
          </a:bodyPr>
          <a:lstStyle/>
          <a:p>
            <a:pPr algn="l">
              <a:spcAft>
                <a:spcPts val="600"/>
              </a:spcAft>
            </a:pPr>
            <a:r>
              <a:rPr sz="1400" b="1">
                <a:solidFill>
                  <a:srgbClr val="1F3864"/>
                </a:solidFill>
                <a:latin typeface="Calibri"/>
              </a:rPr>
              <a:t>• </a:t>
            </a:r>
            <a:r>
              <a:rPr sz="1200">
                <a:solidFill>
                  <a:srgbClr val="222222"/>
                </a:solidFill>
                <a:latin typeface="Calibri"/>
              </a:rPr>
              <a:t>Flexible — system requirements can change as we learn.</a:t>
            </a:r>
          </a:p>
          <a:p>
            <a:pPr algn="l">
              <a:spcAft>
                <a:spcPts val="600"/>
              </a:spcAft>
            </a:pPr>
            <a:r>
              <a:rPr sz="1400" b="1">
                <a:solidFill>
                  <a:srgbClr val="1F3864"/>
                </a:solidFill>
                <a:latin typeface="Calibri"/>
              </a:rPr>
              <a:t>• </a:t>
            </a:r>
            <a:r>
              <a:rPr sz="1200">
                <a:solidFill>
                  <a:srgbClr val="222222"/>
                </a:solidFill>
                <a:latin typeface="Calibri"/>
              </a:rPr>
              <a:t>Continuous testing throughout the project.</a:t>
            </a:r>
          </a:p>
          <a:p>
            <a:pPr algn="l">
              <a:spcAft>
                <a:spcPts val="600"/>
              </a:spcAft>
            </a:pPr>
            <a:r>
              <a:rPr sz="1400" b="1">
                <a:solidFill>
                  <a:srgbClr val="1F3864"/>
                </a:solidFill>
                <a:latin typeface="Calibri"/>
              </a:rPr>
              <a:t>• </a:t>
            </a:r>
            <a:r>
              <a:rPr sz="1200">
                <a:solidFill>
                  <a:srgbClr val="222222"/>
                </a:solidFill>
                <a:latin typeface="Calibri"/>
              </a:rPr>
              <a:t>User feedback used to improve features.</a:t>
            </a:r>
          </a:p>
          <a:p>
            <a:pPr algn="l">
              <a:spcAft>
                <a:spcPts val="600"/>
              </a:spcAft>
            </a:pPr>
            <a:r>
              <a:rPr sz="1400" b="1">
                <a:solidFill>
                  <a:srgbClr val="1F3864"/>
                </a:solidFill>
                <a:latin typeface="Calibri"/>
              </a:rPr>
              <a:t>• </a:t>
            </a:r>
            <a:r>
              <a:rPr sz="1200">
                <a:solidFill>
                  <a:srgbClr val="222222"/>
                </a:solidFill>
                <a:latin typeface="Calibri"/>
              </a:rPr>
              <a:t>Testing: Unit, Integration, and User Acceptance Testing.</a:t>
            </a:r>
          </a:p>
          <a:p>
            <a:pPr algn="l">
              <a:spcAft>
                <a:spcPts val="600"/>
              </a:spcAft>
            </a:pPr>
            <a:r>
              <a:rPr sz="1400" b="1">
                <a:solidFill>
                  <a:srgbClr val="1F3864"/>
                </a:solidFill>
                <a:latin typeface="Calibri"/>
              </a:rPr>
              <a:t>• </a:t>
            </a:r>
            <a:r>
              <a:rPr sz="1200">
                <a:solidFill>
                  <a:srgbClr val="222222"/>
                </a:solidFill>
                <a:latin typeface="Calibri"/>
              </a:rPr>
              <a:t>Tools: Python, Flask, React, React Native, PostgreSQL.</a:t>
            </a:r>
          </a:p>
          <a:p>
            <a:pPr algn="l">
              <a:spcAft>
                <a:spcPts val="600"/>
              </a:spcAft>
            </a:pPr>
            <a:r>
              <a:rPr sz="1400" b="1">
                <a:solidFill>
                  <a:srgbClr val="1F3864"/>
                </a:solidFill>
                <a:latin typeface="Calibri"/>
              </a:rPr>
              <a:t>• </a:t>
            </a:r>
            <a:r>
              <a:rPr sz="1200">
                <a:solidFill>
                  <a:srgbClr val="222222"/>
                </a:solidFill>
                <a:latin typeface="Calibri"/>
              </a:rPr>
              <a:t>Version control: Git and GitHub.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37160" cy="58978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lIns="45720" rIns="45720" tIns="18288" bIns="18288" anchor="t">
            <a:spAutoFit/>
          </a:bodyPr>
          <a:lstStyle/>
          <a:p>
            <a:pPr algn="l"/>
            <a:r>
              <a:rPr sz="2800" b="1">
                <a:solidFill>
                  <a:srgbClr val="FFFFFF"/>
                </a:solidFill>
                <a:latin typeface="Calibri"/>
              </a:rPr>
              <a:t>System Design and Architecture</a:t>
            </a:r>
          </a:p>
        </p:txBody>
      </p:sp>
      <p:sp>
        <p:nvSpPr>
          <p:cNvPr id="5" name="TextBox 4"/>
          <p:cNvSpPr txBox="1"/>
          <p:nvPr/>
        </p:nvSpPr>
        <p:spPr>
          <a:xfrm>
            <a:off x="502920" y="603504"/>
            <a:ext cx="10515600" cy="329184"/>
          </a:xfrm>
          <a:prstGeom prst="rect">
            <a:avLst/>
          </a:prstGeom>
          <a:noFill/>
        </p:spPr>
        <p:txBody>
          <a:bodyPr wrap="square" lIns="45720" rIns="45720" tIns="18288" bIns="18288" anchor="t">
            <a:spAutoFit/>
          </a:bodyPr>
          <a:lstStyle/>
          <a:p>
            <a:pPr algn="l"/>
            <a:r>
              <a:rPr sz="1300" b="0">
                <a:solidFill>
                  <a:srgbClr val="CCD6E6"/>
                </a:solidFill>
                <a:latin typeface="Calibri"/>
              </a:rPr>
              <a:t>How the system is built</a:t>
            </a:r>
          </a:p>
        </p:txBody>
      </p:sp>
      <p:sp>
        <p:nvSpPr>
          <p:cNvPr id="6" name="Rectangle 5"/>
          <p:cNvSpPr/>
          <p:nvPr/>
        </p:nvSpPr>
        <p:spPr>
          <a:xfrm>
            <a:off x="0" y="6537960"/>
            <a:ext cx="12191695" cy="3200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74320"/>
          </a:xfrm>
          <a:prstGeom prst="rect">
            <a:avLst/>
          </a:prstGeom>
          <a:noFill/>
        </p:spPr>
        <p:txBody>
          <a:bodyPr wrap="square" lIns="45720" rIns="45720" tIns="18288" bIns="18288" anchor="t">
            <a:spAutoFit/>
          </a:bodyPr>
          <a:lstStyle/>
          <a:p>
            <a:pPr algn="l"/>
            <a:r>
              <a:rPr sz="1000" b="0">
                <a:solidFill>
                  <a:srgbClr val="FFFFFF"/>
                </a:solidFill>
                <a:latin typeface="Calibri"/>
              </a:rPr>
              <a:t>EstateAI Rwanda  ·  AI-Based Property Valuation System</a:t>
            </a:r>
          </a:p>
        </p:txBody>
      </p:sp>
      <p:sp>
        <p:nvSpPr>
          <p:cNvPr id="8" name="TextBox 7"/>
          <p:cNvSpPr txBox="1"/>
          <p:nvPr/>
        </p:nvSpPr>
        <p:spPr>
          <a:xfrm>
            <a:off x="11521440" y="6565392"/>
            <a:ext cx="548640" cy="274320"/>
          </a:xfrm>
          <a:prstGeom prst="rect">
            <a:avLst/>
          </a:prstGeom>
          <a:noFill/>
        </p:spPr>
        <p:txBody>
          <a:bodyPr wrap="square" lIns="45720" rIns="45720" tIns="18288" bIns="18288" anchor="t">
            <a:spAutoFit/>
          </a:bodyPr>
          <a:lstStyle/>
          <a:p>
            <a:pPr algn="r"/>
            <a:r>
              <a:rPr sz="1000" b="1">
                <a:solidFill>
                  <a:srgbClr val="FFFFFF"/>
                </a:solidFill>
                <a:latin typeface="Calibri"/>
              </a:rPr>
              <a:t>7 / 10</a:t>
            </a:r>
          </a:p>
        </p:txBody>
      </p:sp>
      <p:sp>
        <p:nvSpPr>
          <p:cNvPr id="9" name="TextBox 8"/>
          <p:cNvSpPr txBox="1"/>
          <p:nvPr/>
        </p:nvSpPr>
        <p:spPr>
          <a:xfrm>
            <a:off x="502920" y="1143000"/>
            <a:ext cx="11430000" cy="502920"/>
          </a:xfrm>
          <a:prstGeom prst="rect">
            <a:avLst/>
          </a:prstGeom>
          <a:noFill/>
        </p:spPr>
        <p:txBody>
          <a:bodyPr wrap="square" lIns="45720" rIns="45720" tIns="18288" bIns="18288" anchor="t">
            <a:spAutoFit/>
          </a:bodyPr>
          <a:lstStyle/>
          <a:p>
            <a:pPr algn="l"/>
            <a:r>
              <a:rPr sz="1800" b="1">
                <a:solidFill>
                  <a:srgbClr val="1F3864"/>
                </a:solidFill>
                <a:latin typeface="Calibri"/>
              </a:rPr>
              <a:t>Three-tier architecture: mobile app + web dashboard + Flask backend.</a:t>
            </a:r>
          </a:p>
        </p:txBody>
      </p:sp>
      <p:sp>
        <p:nvSpPr>
          <p:cNvPr id="10" name="Rectangle 9"/>
          <p:cNvSpPr/>
          <p:nvPr/>
        </p:nvSpPr>
        <p:spPr>
          <a:xfrm>
            <a:off x="502920" y="1783080"/>
            <a:ext cx="11201400" cy="11887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783080"/>
            <a:ext cx="164592" cy="1188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874520"/>
            <a:ext cx="10835640" cy="320040"/>
          </a:xfrm>
          <a:prstGeom prst="rect">
            <a:avLst/>
          </a:prstGeom>
          <a:noFill/>
        </p:spPr>
        <p:txBody>
          <a:bodyPr wrap="square" lIns="45720" rIns="45720" tIns="18288" bIns="18288" anchor="t">
            <a:spAutoFit/>
          </a:bodyPr>
          <a:lstStyle/>
          <a:p>
            <a:pPr algn="l"/>
            <a:r>
              <a:rPr sz="1100" b="1">
                <a:solidFill>
                  <a:srgbClr val="2E75B6"/>
                </a:solidFill>
                <a:latin typeface="Calibri"/>
              </a:rPr>
              <a:t>PRESENTATION TIER</a:t>
            </a:r>
          </a:p>
        </p:txBody>
      </p:sp>
      <p:sp>
        <p:nvSpPr>
          <p:cNvPr id="13" name="TextBox 12"/>
          <p:cNvSpPr txBox="1"/>
          <p:nvPr/>
        </p:nvSpPr>
        <p:spPr>
          <a:xfrm>
            <a:off x="777240" y="2167128"/>
            <a:ext cx="10835640" cy="411480"/>
          </a:xfrm>
          <a:prstGeom prst="rect">
            <a:avLst/>
          </a:prstGeom>
          <a:noFill/>
        </p:spPr>
        <p:txBody>
          <a:bodyPr wrap="square" lIns="45720" rIns="45720" tIns="18288" bIns="18288" anchor="t">
            <a:spAutoFit/>
          </a:bodyPr>
          <a:lstStyle/>
          <a:p>
            <a:pPr algn="l"/>
            <a:r>
              <a:rPr sz="1600" b="1">
                <a:solidFill>
                  <a:srgbClr val="1F3864"/>
                </a:solidFill>
                <a:latin typeface="Calibri"/>
              </a:rPr>
              <a:t>Mobile App  ·  Web Admin Dashboard</a:t>
            </a:r>
          </a:p>
        </p:txBody>
      </p:sp>
      <p:sp>
        <p:nvSpPr>
          <p:cNvPr id="14" name="TextBox 13"/>
          <p:cNvSpPr txBox="1"/>
          <p:nvPr/>
        </p:nvSpPr>
        <p:spPr>
          <a:xfrm>
            <a:off x="777240" y="2587752"/>
            <a:ext cx="10835640" cy="365760"/>
          </a:xfrm>
          <a:prstGeom prst="rect">
            <a:avLst/>
          </a:prstGeom>
          <a:noFill/>
        </p:spPr>
        <p:txBody>
          <a:bodyPr wrap="square" lIns="45720" rIns="45720" tIns="18288" bIns="18288" anchor="t">
            <a:spAutoFit/>
          </a:bodyPr>
          <a:lstStyle/>
          <a:p>
            <a:pPr algn="l"/>
            <a:r>
              <a:rPr sz="1200" b="0">
                <a:solidFill>
                  <a:srgbClr val="222222"/>
                </a:solidFill>
                <a:latin typeface="Calibri"/>
              </a:rPr>
              <a:t>React Native (Expo) for mobile  ·  React + Vite + Tailwind CSS for web</a:t>
            </a:r>
          </a:p>
        </p:txBody>
      </p:sp>
      <p:sp>
        <p:nvSpPr>
          <p:cNvPr id="15" name="Rectangle 14"/>
          <p:cNvSpPr/>
          <p:nvPr/>
        </p:nvSpPr>
        <p:spPr>
          <a:xfrm>
            <a:off x="502920" y="3154680"/>
            <a:ext cx="11201400" cy="11887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154680"/>
            <a:ext cx="164592" cy="1188720"/>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246120"/>
            <a:ext cx="10835640" cy="320040"/>
          </a:xfrm>
          <a:prstGeom prst="rect">
            <a:avLst/>
          </a:prstGeom>
          <a:noFill/>
        </p:spPr>
        <p:txBody>
          <a:bodyPr wrap="square" lIns="45720" rIns="45720" tIns="18288" bIns="18288" anchor="t">
            <a:spAutoFit/>
          </a:bodyPr>
          <a:lstStyle/>
          <a:p>
            <a:pPr algn="l"/>
            <a:r>
              <a:rPr sz="1100" b="1">
                <a:solidFill>
                  <a:srgbClr val="2F855A"/>
                </a:solidFill>
                <a:latin typeface="Calibri"/>
              </a:rPr>
              <a:t>APPLICATION TIER</a:t>
            </a:r>
          </a:p>
        </p:txBody>
      </p:sp>
      <p:sp>
        <p:nvSpPr>
          <p:cNvPr id="18" name="TextBox 17"/>
          <p:cNvSpPr txBox="1"/>
          <p:nvPr/>
        </p:nvSpPr>
        <p:spPr>
          <a:xfrm>
            <a:off x="777240" y="3538728"/>
            <a:ext cx="10835640" cy="411480"/>
          </a:xfrm>
          <a:prstGeom prst="rect">
            <a:avLst/>
          </a:prstGeom>
          <a:noFill/>
        </p:spPr>
        <p:txBody>
          <a:bodyPr wrap="square" lIns="45720" rIns="45720" tIns="18288" bIns="18288" anchor="t">
            <a:spAutoFit/>
          </a:bodyPr>
          <a:lstStyle/>
          <a:p>
            <a:pPr algn="l"/>
            <a:r>
              <a:rPr sz="1600" b="1">
                <a:solidFill>
                  <a:srgbClr val="1F3864"/>
                </a:solidFill>
                <a:latin typeface="Calibri"/>
              </a:rPr>
              <a:t>Python Flask Backend  ·  REST APIs  ·  WebSockets</a:t>
            </a:r>
          </a:p>
        </p:txBody>
      </p:sp>
      <p:sp>
        <p:nvSpPr>
          <p:cNvPr id="19" name="TextBox 18"/>
          <p:cNvSpPr txBox="1"/>
          <p:nvPr/>
        </p:nvSpPr>
        <p:spPr>
          <a:xfrm>
            <a:off x="777240" y="3959352"/>
            <a:ext cx="10835640" cy="365760"/>
          </a:xfrm>
          <a:prstGeom prst="rect">
            <a:avLst/>
          </a:prstGeom>
          <a:noFill/>
        </p:spPr>
        <p:txBody>
          <a:bodyPr wrap="square" lIns="45720" rIns="45720" tIns="18288" bIns="18288" anchor="t">
            <a:spAutoFit/>
          </a:bodyPr>
          <a:lstStyle/>
          <a:p>
            <a:pPr algn="l"/>
            <a:r>
              <a:rPr sz="1200" b="0">
                <a:solidFill>
                  <a:srgbClr val="222222"/>
                </a:solidFill>
                <a:latin typeface="Calibri"/>
              </a:rPr>
              <a:t>12+ blueprints (auth, properties, AI, payments, admin)  ·  JWT  ·  Real-time chat</a:t>
            </a:r>
          </a:p>
        </p:txBody>
      </p:sp>
      <p:sp>
        <p:nvSpPr>
          <p:cNvPr id="20" name="Rectangle 19"/>
          <p:cNvSpPr/>
          <p:nvPr/>
        </p:nvSpPr>
        <p:spPr>
          <a:xfrm>
            <a:off x="502920" y="4526280"/>
            <a:ext cx="11201400" cy="11887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526280"/>
            <a:ext cx="164592" cy="11887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617720"/>
            <a:ext cx="10835640" cy="320040"/>
          </a:xfrm>
          <a:prstGeom prst="rect">
            <a:avLst/>
          </a:prstGeom>
          <a:noFill/>
        </p:spPr>
        <p:txBody>
          <a:bodyPr wrap="square" lIns="45720" rIns="45720" tIns="18288" bIns="18288" anchor="t">
            <a:spAutoFit/>
          </a:bodyPr>
          <a:lstStyle/>
          <a:p>
            <a:pPr algn="l"/>
            <a:r>
              <a:rPr sz="1100" b="1">
                <a:solidFill>
                  <a:srgbClr val="D97706"/>
                </a:solidFill>
                <a:latin typeface="Calibri"/>
              </a:rPr>
              <a:t>DATA TIER</a:t>
            </a:r>
          </a:p>
        </p:txBody>
      </p:sp>
      <p:sp>
        <p:nvSpPr>
          <p:cNvPr id="23" name="TextBox 22"/>
          <p:cNvSpPr txBox="1"/>
          <p:nvPr/>
        </p:nvSpPr>
        <p:spPr>
          <a:xfrm>
            <a:off x="777240" y="4910328"/>
            <a:ext cx="10835640" cy="411480"/>
          </a:xfrm>
          <a:prstGeom prst="rect">
            <a:avLst/>
          </a:prstGeom>
          <a:noFill/>
        </p:spPr>
        <p:txBody>
          <a:bodyPr wrap="square" lIns="45720" rIns="45720" tIns="18288" bIns="18288" anchor="t">
            <a:spAutoFit/>
          </a:bodyPr>
          <a:lstStyle/>
          <a:p>
            <a:pPr algn="l"/>
            <a:r>
              <a:rPr sz="1600" b="1">
                <a:solidFill>
                  <a:srgbClr val="1F3864"/>
                </a:solidFill>
                <a:latin typeface="Calibri"/>
              </a:rPr>
              <a:t>PostgreSQL Database  ·  Cloudinary  ·  Resend</a:t>
            </a:r>
          </a:p>
        </p:txBody>
      </p:sp>
      <p:sp>
        <p:nvSpPr>
          <p:cNvPr id="24" name="TextBox 23"/>
          <p:cNvSpPr txBox="1"/>
          <p:nvPr/>
        </p:nvSpPr>
        <p:spPr>
          <a:xfrm>
            <a:off x="777240" y="5330952"/>
            <a:ext cx="10835640" cy="365760"/>
          </a:xfrm>
          <a:prstGeom prst="rect">
            <a:avLst/>
          </a:prstGeom>
          <a:noFill/>
        </p:spPr>
        <p:txBody>
          <a:bodyPr wrap="square" lIns="45720" rIns="45720" tIns="18288" bIns="18288" anchor="t">
            <a:spAutoFit/>
          </a:bodyPr>
          <a:lstStyle/>
          <a:p>
            <a:pPr algn="l"/>
            <a:r>
              <a:rPr sz="1200" b="0">
                <a:solidFill>
                  <a:srgbClr val="222222"/>
                </a:solidFill>
                <a:latin typeface="Calibri"/>
              </a:rPr>
              <a:t>13 tables  ·  Images stored on Cloudinary  ·  Email through Resend</a:t>
            </a:r>
          </a:p>
        </p:txBody>
      </p:sp>
      <p:sp>
        <p:nvSpPr>
          <p:cNvPr id="25" name="Rectangle 24"/>
          <p:cNvSpPr/>
          <p:nvPr/>
        </p:nvSpPr>
        <p:spPr>
          <a:xfrm>
            <a:off x="502920" y="5852160"/>
            <a:ext cx="11201400" cy="640080"/>
          </a:xfrm>
          <a:prstGeom prst="rect">
            <a:avLst/>
          </a:prstGeom>
          <a:solidFill>
            <a:srgbClr val="FEF3C7"/>
          </a:solidFill>
          <a:ln w="6350">
            <a:solidFill>
              <a:srgbClr val="FDE0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897880"/>
            <a:ext cx="11201400" cy="274320"/>
          </a:xfrm>
          <a:prstGeom prst="rect">
            <a:avLst/>
          </a:prstGeom>
          <a:noFill/>
        </p:spPr>
        <p:txBody>
          <a:bodyPr wrap="square" lIns="45720" rIns="45720" tIns="18288" bIns="18288" anchor="t">
            <a:spAutoFit/>
          </a:bodyPr>
          <a:lstStyle/>
          <a:p>
            <a:pPr algn="l"/>
            <a:r>
              <a:rPr sz="1100" b="1">
                <a:solidFill>
                  <a:srgbClr val="A16207"/>
                </a:solidFill>
                <a:latin typeface="Calibri"/>
              </a:rPr>
              <a:t>🧠  Intelligence Layer</a:t>
            </a:r>
          </a:p>
        </p:txBody>
      </p:sp>
      <p:sp>
        <p:nvSpPr>
          <p:cNvPr id="27" name="TextBox 26"/>
          <p:cNvSpPr txBox="1"/>
          <p:nvPr/>
        </p:nvSpPr>
        <p:spPr>
          <a:xfrm>
            <a:off x="640080" y="6172200"/>
            <a:ext cx="10927080" cy="292608"/>
          </a:xfrm>
          <a:prstGeom prst="rect">
            <a:avLst/>
          </a:prstGeom>
          <a:noFill/>
        </p:spPr>
        <p:txBody>
          <a:bodyPr wrap="square" lIns="45720" rIns="45720" tIns="18288" bIns="18288" anchor="t">
            <a:spAutoFit/>
          </a:bodyPr>
          <a:lstStyle/>
          <a:p>
            <a:pPr algn="l"/>
            <a:r>
              <a:rPr sz="1200" b="0">
                <a:solidFill>
                  <a:srgbClr val="222222"/>
                </a:solidFill>
                <a:latin typeface="Calibri"/>
              </a:rPr>
              <a:t>Machine-learning model (Random Forest + Gradient Boosting)  ·  Custom geospatial engine  ·  OpenAI gpt-4o-mini chatbot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37160" cy="58978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lIns="45720" rIns="45720" tIns="18288" bIns="18288" anchor="t">
            <a:spAutoFit/>
          </a:bodyPr>
          <a:lstStyle/>
          <a:p>
            <a:pPr algn="l"/>
            <a:r>
              <a:rPr sz="2800" b="1">
                <a:solidFill>
                  <a:srgbClr val="FFFFFF"/>
                </a:solidFill>
                <a:latin typeface="Calibri"/>
              </a:rPr>
              <a:t>Implementation and Key Features</a:t>
            </a:r>
          </a:p>
        </p:txBody>
      </p:sp>
      <p:sp>
        <p:nvSpPr>
          <p:cNvPr id="5" name="TextBox 4"/>
          <p:cNvSpPr txBox="1"/>
          <p:nvPr/>
        </p:nvSpPr>
        <p:spPr>
          <a:xfrm>
            <a:off x="502920" y="603504"/>
            <a:ext cx="10515600" cy="329184"/>
          </a:xfrm>
          <a:prstGeom prst="rect">
            <a:avLst/>
          </a:prstGeom>
          <a:noFill/>
        </p:spPr>
        <p:txBody>
          <a:bodyPr wrap="square" lIns="45720" rIns="45720" tIns="18288" bIns="18288" anchor="t">
            <a:spAutoFit/>
          </a:bodyPr>
          <a:lstStyle/>
          <a:p>
            <a:pPr algn="l"/>
            <a:r>
              <a:rPr sz="1300" b="0">
                <a:solidFill>
                  <a:srgbClr val="CCD6E6"/>
                </a:solidFill>
                <a:latin typeface="Calibri"/>
              </a:rPr>
              <a:t>What users can do in the system</a:t>
            </a:r>
          </a:p>
        </p:txBody>
      </p:sp>
      <p:sp>
        <p:nvSpPr>
          <p:cNvPr id="6" name="Rectangle 5"/>
          <p:cNvSpPr/>
          <p:nvPr/>
        </p:nvSpPr>
        <p:spPr>
          <a:xfrm>
            <a:off x="0" y="6537960"/>
            <a:ext cx="12191695" cy="3200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74320"/>
          </a:xfrm>
          <a:prstGeom prst="rect">
            <a:avLst/>
          </a:prstGeom>
          <a:noFill/>
        </p:spPr>
        <p:txBody>
          <a:bodyPr wrap="square" lIns="45720" rIns="45720" tIns="18288" bIns="18288" anchor="t">
            <a:spAutoFit/>
          </a:bodyPr>
          <a:lstStyle/>
          <a:p>
            <a:pPr algn="l"/>
            <a:r>
              <a:rPr sz="1000" b="0">
                <a:solidFill>
                  <a:srgbClr val="FFFFFF"/>
                </a:solidFill>
                <a:latin typeface="Calibri"/>
              </a:rPr>
              <a:t>EstateAI Rwanda  ·  AI-Based Property Valuation System</a:t>
            </a:r>
          </a:p>
        </p:txBody>
      </p:sp>
      <p:sp>
        <p:nvSpPr>
          <p:cNvPr id="8" name="TextBox 7"/>
          <p:cNvSpPr txBox="1"/>
          <p:nvPr/>
        </p:nvSpPr>
        <p:spPr>
          <a:xfrm>
            <a:off x="11521440" y="6565392"/>
            <a:ext cx="548640" cy="274320"/>
          </a:xfrm>
          <a:prstGeom prst="rect">
            <a:avLst/>
          </a:prstGeom>
          <a:noFill/>
        </p:spPr>
        <p:txBody>
          <a:bodyPr wrap="square" lIns="45720" rIns="45720" tIns="18288" bIns="18288" anchor="t">
            <a:spAutoFit/>
          </a:bodyPr>
          <a:lstStyle/>
          <a:p>
            <a:pPr algn="r"/>
            <a:r>
              <a:rPr sz="1000" b="1">
                <a:solidFill>
                  <a:srgbClr val="FFFFFF"/>
                </a:solidFill>
                <a:latin typeface="Calibri"/>
              </a:rPr>
              <a:t>8 / 10</a:t>
            </a:r>
          </a:p>
        </p:txBody>
      </p:sp>
      <p:sp>
        <p:nvSpPr>
          <p:cNvPr id="9" name="TextBox 8"/>
          <p:cNvSpPr txBox="1"/>
          <p:nvPr/>
        </p:nvSpPr>
        <p:spPr>
          <a:xfrm>
            <a:off x="502920" y="1143000"/>
            <a:ext cx="11430000" cy="502920"/>
          </a:xfrm>
          <a:prstGeom prst="rect">
            <a:avLst/>
          </a:prstGeom>
          <a:noFill/>
        </p:spPr>
        <p:txBody>
          <a:bodyPr wrap="square" lIns="45720" rIns="45720" tIns="18288" bIns="18288" anchor="t">
            <a:spAutoFit/>
          </a:bodyPr>
          <a:lstStyle/>
          <a:p>
            <a:pPr algn="l"/>
            <a:r>
              <a:rPr sz="1800" b="1">
                <a:solidFill>
                  <a:srgbClr val="1F3864"/>
                </a:solidFill>
                <a:latin typeface="Calibri"/>
              </a:rPr>
              <a:t>The system was built and deployed with a full set of features.</a:t>
            </a:r>
          </a:p>
        </p:txBody>
      </p:sp>
      <p:sp>
        <p:nvSpPr>
          <p:cNvPr id="10" name="Rectangle 9"/>
          <p:cNvSpPr/>
          <p:nvPr/>
        </p:nvSpPr>
        <p:spPr>
          <a:xfrm>
            <a:off x="502920" y="1828800"/>
            <a:ext cx="2743200" cy="21031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828800"/>
            <a:ext cx="274320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011680"/>
            <a:ext cx="2743200" cy="548640"/>
          </a:xfrm>
          <a:prstGeom prst="rect">
            <a:avLst/>
          </a:prstGeom>
          <a:noFill/>
        </p:spPr>
        <p:txBody>
          <a:bodyPr wrap="square" lIns="45720" rIns="45720" tIns="18288" bIns="18288" anchor="t">
            <a:spAutoFit/>
          </a:bodyPr>
          <a:lstStyle/>
          <a:p>
            <a:pPr algn="ctr"/>
            <a:r>
              <a:rPr sz="3000" b="0">
                <a:solidFill>
                  <a:srgbClr val="2E75B6"/>
                </a:solidFill>
                <a:latin typeface="Calibri"/>
              </a:rPr>
              <a:t>👤</a:t>
            </a:r>
          </a:p>
        </p:txBody>
      </p:sp>
      <p:sp>
        <p:nvSpPr>
          <p:cNvPr id="13" name="TextBox 12"/>
          <p:cNvSpPr txBox="1"/>
          <p:nvPr/>
        </p:nvSpPr>
        <p:spPr>
          <a:xfrm>
            <a:off x="640080" y="2651760"/>
            <a:ext cx="2468880" cy="411480"/>
          </a:xfrm>
          <a:prstGeom prst="rect">
            <a:avLst/>
          </a:prstGeom>
          <a:noFill/>
        </p:spPr>
        <p:txBody>
          <a:bodyPr wrap="square" lIns="45720" rIns="45720" tIns="18288" bIns="18288" anchor="t">
            <a:spAutoFit/>
          </a:bodyPr>
          <a:lstStyle/>
          <a:p>
            <a:pPr algn="ctr"/>
            <a:r>
              <a:rPr sz="1400" b="1">
                <a:solidFill>
                  <a:srgbClr val="2E75B6"/>
                </a:solidFill>
                <a:latin typeface="Calibri"/>
              </a:rPr>
              <a:t>Sign up &amp; Login</a:t>
            </a:r>
          </a:p>
        </p:txBody>
      </p:sp>
      <p:sp>
        <p:nvSpPr>
          <p:cNvPr id="14" name="TextBox 13"/>
          <p:cNvSpPr txBox="1"/>
          <p:nvPr/>
        </p:nvSpPr>
        <p:spPr>
          <a:xfrm>
            <a:off x="640080" y="3063240"/>
            <a:ext cx="2468880" cy="822960"/>
          </a:xfrm>
          <a:prstGeom prst="rect">
            <a:avLst/>
          </a:prstGeom>
          <a:noFill/>
        </p:spPr>
        <p:txBody>
          <a:bodyPr wrap="square" lIns="45720" rIns="45720" tIns="18288" bIns="18288" anchor="t">
            <a:spAutoFit/>
          </a:bodyPr>
          <a:lstStyle/>
          <a:p>
            <a:pPr algn="ctr"/>
            <a:r>
              <a:rPr sz="1100" b="0">
                <a:solidFill>
                  <a:srgbClr val="222222"/>
                </a:solidFill>
                <a:latin typeface="Calibri"/>
              </a:rPr>
              <a:t>Email/password or Google sign-in with secure JWT tokens.</a:t>
            </a:r>
          </a:p>
        </p:txBody>
      </p:sp>
      <p:sp>
        <p:nvSpPr>
          <p:cNvPr id="15" name="Rectangle 14"/>
          <p:cNvSpPr/>
          <p:nvPr/>
        </p:nvSpPr>
        <p:spPr>
          <a:xfrm>
            <a:off x="3364992" y="1828800"/>
            <a:ext cx="2743200" cy="21031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64992" y="1828800"/>
            <a:ext cx="2743200" cy="7315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64992" y="2011680"/>
            <a:ext cx="2743200" cy="548640"/>
          </a:xfrm>
          <a:prstGeom prst="rect">
            <a:avLst/>
          </a:prstGeom>
          <a:noFill/>
        </p:spPr>
        <p:txBody>
          <a:bodyPr wrap="square" lIns="45720" rIns="45720" tIns="18288" bIns="18288" anchor="t">
            <a:spAutoFit/>
          </a:bodyPr>
          <a:lstStyle/>
          <a:p>
            <a:pPr algn="ctr"/>
            <a:r>
              <a:rPr sz="3000" b="0">
                <a:solidFill>
                  <a:srgbClr val="1F3864"/>
                </a:solidFill>
                <a:latin typeface="Calibri"/>
              </a:rPr>
              <a:t>🔍</a:t>
            </a:r>
          </a:p>
        </p:txBody>
      </p:sp>
      <p:sp>
        <p:nvSpPr>
          <p:cNvPr id="18" name="TextBox 17"/>
          <p:cNvSpPr txBox="1"/>
          <p:nvPr/>
        </p:nvSpPr>
        <p:spPr>
          <a:xfrm>
            <a:off x="3502152" y="2651760"/>
            <a:ext cx="2468880" cy="411480"/>
          </a:xfrm>
          <a:prstGeom prst="rect">
            <a:avLst/>
          </a:prstGeom>
          <a:noFill/>
        </p:spPr>
        <p:txBody>
          <a:bodyPr wrap="square" lIns="45720" rIns="45720" tIns="18288" bIns="18288" anchor="t">
            <a:spAutoFit/>
          </a:bodyPr>
          <a:lstStyle/>
          <a:p>
            <a:pPr algn="ctr"/>
            <a:r>
              <a:rPr sz="1400" b="1">
                <a:solidFill>
                  <a:srgbClr val="1F3864"/>
                </a:solidFill>
                <a:latin typeface="Calibri"/>
              </a:rPr>
              <a:t>Browse &amp; Filter</a:t>
            </a:r>
          </a:p>
        </p:txBody>
      </p:sp>
      <p:sp>
        <p:nvSpPr>
          <p:cNvPr id="19" name="TextBox 18"/>
          <p:cNvSpPr txBox="1"/>
          <p:nvPr/>
        </p:nvSpPr>
        <p:spPr>
          <a:xfrm>
            <a:off x="3502152" y="3063240"/>
            <a:ext cx="2468880" cy="822960"/>
          </a:xfrm>
          <a:prstGeom prst="rect">
            <a:avLst/>
          </a:prstGeom>
          <a:noFill/>
        </p:spPr>
        <p:txBody>
          <a:bodyPr wrap="square" lIns="45720" rIns="45720" tIns="18288" bIns="18288" anchor="t">
            <a:spAutoFit/>
          </a:bodyPr>
          <a:lstStyle/>
          <a:p>
            <a:pPr algn="ctr"/>
            <a:r>
              <a:rPr sz="1100" b="0">
                <a:solidFill>
                  <a:srgbClr val="222222"/>
                </a:solidFill>
                <a:latin typeface="Calibri"/>
              </a:rPr>
              <a:t>Search by district, sector, price, type and number of rooms.</a:t>
            </a:r>
          </a:p>
        </p:txBody>
      </p:sp>
      <p:sp>
        <p:nvSpPr>
          <p:cNvPr id="20" name="Rectangle 19"/>
          <p:cNvSpPr/>
          <p:nvPr/>
        </p:nvSpPr>
        <p:spPr>
          <a:xfrm>
            <a:off x="6227064" y="1828800"/>
            <a:ext cx="2743200" cy="21031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27064" y="1828800"/>
            <a:ext cx="2743200" cy="7315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7064" y="2011680"/>
            <a:ext cx="2743200" cy="548640"/>
          </a:xfrm>
          <a:prstGeom prst="rect">
            <a:avLst/>
          </a:prstGeom>
          <a:noFill/>
        </p:spPr>
        <p:txBody>
          <a:bodyPr wrap="square" lIns="45720" rIns="45720" tIns="18288" bIns="18288" anchor="t">
            <a:spAutoFit/>
          </a:bodyPr>
          <a:lstStyle/>
          <a:p>
            <a:pPr algn="ctr"/>
            <a:r>
              <a:rPr sz="3000" b="0">
                <a:solidFill>
                  <a:srgbClr val="D97706"/>
                </a:solidFill>
                <a:latin typeface="Calibri"/>
              </a:rPr>
              <a:t>🤖</a:t>
            </a:r>
          </a:p>
        </p:txBody>
      </p:sp>
      <p:sp>
        <p:nvSpPr>
          <p:cNvPr id="23" name="TextBox 22"/>
          <p:cNvSpPr txBox="1"/>
          <p:nvPr/>
        </p:nvSpPr>
        <p:spPr>
          <a:xfrm>
            <a:off x="6364224" y="2651760"/>
            <a:ext cx="2468880" cy="411480"/>
          </a:xfrm>
          <a:prstGeom prst="rect">
            <a:avLst/>
          </a:prstGeom>
          <a:noFill/>
        </p:spPr>
        <p:txBody>
          <a:bodyPr wrap="square" lIns="45720" rIns="45720" tIns="18288" bIns="18288" anchor="t">
            <a:spAutoFit/>
          </a:bodyPr>
          <a:lstStyle/>
          <a:p>
            <a:pPr algn="ctr"/>
            <a:r>
              <a:rPr sz="1400" b="1">
                <a:solidFill>
                  <a:srgbClr val="D97706"/>
                </a:solidFill>
                <a:latin typeface="Calibri"/>
              </a:rPr>
              <a:t>AI Valuation</a:t>
            </a:r>
          </a:p>
        </p:txBody>
      </p:sp>
      <p:sp>
        <p:nvSpPr>
          <p:cNvPr id="24" name="TextBox 23"/>
          <p:cNvSpPr txBox="1"/>
          <p:nvPr/>
        </p:nvSpPr>
        <p:spPr>
          <a:xfrm>
            <a:off x="6364224" y="3063240"/>
            <a:ext cx="2468880" cy="822960"/>
          </a:xfrm>
          <a:prstGeom prst="rect">
            <a:avLst/>
          </a:prstGeom>
          <a:noFill/>
        </p:spPr>
        <p:txBody>
          <a:bodyPr wrap="square" lIns="45720" rIns="45720" tIns="18288" bIns="18288" anchor="t">
            <a:spAutoFit/>
          </a:bodyPr>
          <a:lstStyle/>
          <a:p>
            <a:pPr algn="ctr"/>
            <a:r>
              <a:rPr sz="1100" b="0">
                <a:solidFill>
                  <a:srgbClr val="222222"/>
                </a:solidFill>
                <a:latin typeface="Calibri"/>
              </a:rPr>
              <a:t>Estimate a fair price for a house or land in seconds.</a:t>
            </a:r>
          </a:p>
        </p:txBody>
      </p:sp>
      <p:sp>
        <p:nvSpPr>
          <p:cNvPr id="25" name="Rectangle 24"/>
          <p:cNvSpPr/>
          <p:nvPr/>
        </p:nvSpPr>
        <p:spPr>
          <a:xfrm>
            <a:off x="9089136" y="1828800"/>
            <a:ext cx="2743200" cy="21031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89136" y="1828800"/>
            <a:ext cx="2743200" cy="73152"/>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89136" y="2011680"/>
            <a:ext cx="2743200" cy="548640"/>
          </a:xfrm>
          <a:prstGeom prst="rect">
            <a:avLst/>
          </a:prstGeom>
          <a:noFill/>
        </p:spPr>
        <p:txBody>
          <a:bodyPr wrap="square" lIns="45720" rIns="45720" tIns="18288" bIns="18288" anchor="t">
            <a:spAutoFit/>
          </a:bodyPr>
          <a:lstStyle/>
          <a:p>
            <a:pPr algn="ctr"/>
            <a:r>
              <a:rPr sz="3000" b="0">
                <a:solidFill>
                  <a:srgbClr val="2F855A"/>
                </a:solidFill>
                <a:latin typeface="Calibri"/>
              </a:rPr>
              <a:t>📝</a:t>
            </a:r>
          </a:p>
        </p:txBody>
      </p:sp>
      <p:sp>
        <p:nvSpPr>
          <p:cNvPr id="28" name="TextBox 27"/>
          <p:cNvSpPr txBox="1"/>
          <p:nvPr/>
        </p:nvSpPr>
        <p:spPr>
          <a:xfrm>
            <a:off x="9226296" y="2651760"/>
            <a:ext cx="2468880" cy="411480"/>
          </a:xfrm>
          <a:prstGeom prst="rect">
            <a:avLst/>
          </a:prstGeom>
          <a:noFill/>
        </p:spPr>
        <p:txBody>
          <a:bodyPr wrap="square" lIns="45720" rIns="45720" tIns="18288" bIns="18288" anchor="t">
            <a:spAutoFit/>
          </a:bodyPr>
          <a:lstStyle/>
          <a:p>
            <a:pPr algn="ctr"/>
            <a:r>
              <a:rPr sz="1400" b="1">
                <a:solidFill>
                  <a:srgbClr val="2F855A"/>
                </a:solidFill>
                <a:latin typeface="Calibri"/>
              </a:rPr>
              <a:t>Create Listings</a:t>
            </a:r>
          </a:p>
        </p:txBody>
      </p:sp>
      <p:sp>
        <p:nvSpPr>
          <p:cNvPr id="29" name="TextBox 28"/>
          <p:cNvSpPr txBox="1"/>
          <p:nvPr/>
        </p:nvSpPr>
        <p:spPr>
          <a:xfrm>
            <a:off x="9226296" y="3063240"/>
            <a:ext cx="2468880" cy="822960"/>
          </a:xfrm>
          <a:prstGeom prst="rect">
            <a:avLst/>
          </a:prstGeom>
          <a:noFill/>
        </p:spPr>
        <p:txBody>
          <a:bodyPr wrap="square" lIns="45720" rIns="45720" tIns="18288" bIns="18288" anchor="t">
            <a:spAutoFit/>
          </a:bodyPr>
          <a:lstStyle/>
          <a:p>
            <a:pPr algn="ctr"/>
            <a:r>
              <a:rPr sz="1100" b="0">
                <a:solidFill>
                  <a:srgbClr val="222222"/>
                </a:solidFill>
                <a:latin typeface="Calibri"/>
              </a:rPr>
              <a:t>Upload property details, photos and ownership documents.</a:t>
            </a:r>
          </a:p>
        </p:txBody>
      </p:sp>
      <p:sp>
        <p:nvSpPr>
          <p:cNvPr id="30" name="Rectangle 29"/>
          <p:cNvSpPr/>
          <p:nvPr/>
        </p:nvSpPr>
        <p:spPr>
          <a:xfrm>
            <a:off x="502920" y="4160520"/>
            <a:ext cx="2743200" cy="21031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4160520"/>
            <a:ext cx="274320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4343400"/>
            <a:ext cx="2743200" cy="548640"/>
          </a:xfrm>
          <a:prstGeom prst="rect">
            <a:avLst/>
          </a:prstGeom>
          <a:noFill/>
        </p:spPr>
        <p:txBody>
          <a:bodyPr wrap="square" lIns="45720" rIns="45720" tIns="18288" bIns="18288" anchor="t">
            <a:spAutoFit/>
          </a:bodyPr>
          <a:lstStyle/>
          <a:p>
            <a:pPr algn="ctr"/>
            <a:r>
              <a:rPr sz="3000" b="0">
                <a:solidFill>
                  <a:srgbClr val="2E75B6"/>
                </a:solidFill>
                <a:latin typeface="Calibri"/>
              </a:rPr>
              <a:t>💬</a:t>
            </a:r>
          </a:p>
        </p:txBody>
      </p:sp>
      <p:sp>
        <p:nvSpPr>
          <p:cNvPr id="33" name="TextBox 32"/>
          <p:cNvSpPr txBox="1"/>
          <p:nvPr/>
        </p:nvSpPr>
        <p:spPr>
          <a:xfrm>
            <a:off x="640080" y="4983480"/>
            <a:ext cx="2468880" cy="411480"/>
          </a:xfrm>
          <a:prstGeom prst="rect">
            <a:avLst/>
          </a:prstGeom>
          <a:noFill/>
        </p:spPr>
        <p:txBody>
          <a:bodyPr wrap="square" lIns="45720" rIns="45720" tIns="18288" bIns="18288" anchor="t">
            <a:spAutoFit/>
          </a:bodyPr>
          <a:lstStyle/>
          <a:p>
            <a:pPr algn="ctr"/>
            <a:r>
              <a:rPr sz="1400" b="1">
                <a:solidFill>
                  <a:srgbClr val="2E75B6"/>
                </a:solidFill>
                <a:latin typeface="Calibri"/>
              </a:rPr>
              <a:t>Buyer–Seller Chat</a:t>
            </a:r>
          </a:p>
        </p:txBody>
      </p:sp>
      <p:sp>
        <p:nvSpPr>
          <p:cNvPr id="34" name="TextBox 33"/>
          <p:cNvSpPr txBox="1"/>
          <p:nvPr/>
        </p:nvSpPr>
        <p:spPr>
          <a:xfrm>
            <a:off x="640080" y="5394960"/>
            <a:ext cx="2468880" cy="822960"/>
          </a:xfrm>
          <a:prstGeom prst="rect">
            <a:avLst/>
          </a:prstGeom>
          <a:noFill/>
        </p:spPr>
        <p:txBody>
          <a:bodyPr wrap="square" lIns="45720" rIns="45720" tIns="18288" bIns="18288" anchor="t">
            <a:spAutoFit/>
          </a:bodyPr>
          <a:lstStyle/>
          <a:p>
            <a:pPr algn="ctr"/>
            <a:r>
              <a:rPr sz="1100" b="0">
                <a:solidFill>
                  <a:srgbClr val="222222"/>
                </a:solidFill>
                <a:latin typeface="Calibri"/>
              </a:rPr>
              <a:t>Real-time chat between buyer and seller inside the app.</a:t>
            </a:r>
          </a:p>
        </p:txBody>
      </p:sp>
      <p:sp>
        <p:nvSpPr>
          <p:cNvPr id="35" name="Rectangle 34"/>
          <p:cNvSpPr/>
          <p:nvPr/>
        </p:nvSpPr>
        <p:spPr>
          <a:xfrm>
            <a:off x="3364992" y="4160520"/>
            <a:ext cx="2743200" cy="21031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64992" y="4160520"/>
            <a:ext cx="2743200" cy="7315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64992" y="4343400"/>
            <a:ext cx="2743200" cy="548640"/>
          </a:xfrm>
          <a:prstGeom prst="rect">
            <a:avLst/>
          </a:prstGeom>
          <a:noFill/>
        </p:spPr>
        <p:txBody>
          <a:bodyPr wrap="square" lIns="45720" rIns="45720" tIns="18288" bIns="18288" anchor="t">
            <a:spAutoFit/>
          </a:bodyPr>
          <a:lstStyle/>
          <a:p>
            <a:pPr algn="ctr"/>
            <a:r>
              <a:rPr sz="3000" b="0">
                <a:solidFill>
                  <a:srgbClr val="D97706"/>
                </a:solidFill>
                <a:latin typeface="Calibri"/>
              </a:rPr>
              <a:t>💳</a:t>
            </a:r>
          </a:p>
        </p:txBody>
      </p:sp>
      <p:sp>
        <p:nvSpPr>
          <p:cNvPr id="38" name="TextBox 37"/>
          <p:cNvSpPr txBox="1"/>
          <p:nvPr/>
        </p:nvSpPr>
        <p:spPr>
          <a:xfrm>
            <a:off x="3502152" y="4983480"/>
            <a:ext cx="2468880" cy="411480"/>
          </a:xfrm>
          <a:prstGeom prst="rect">
            <a:avLst/>
          </a:prstGeom>
          <a:noFill/>
        </p:spPr>
        <p:txBody>
          <a:bodyPr wrap="square" lIns="45720" rIns="45720" tIns="18288" bIns="18288" anchor="t">
            <a:spAutoFit/>
          </a:bodyPr>
          <a:lstStyle/>
          <a:p>
            <a:pPr algn="ctr"/>
            <a:r>
              <a:rPr sz="1400" b="1">
                <a:solidFill>
                  <a:srgbClr val="D97706"/>
                </a:solidFill>
                <a:latin typeface="Calibri"/>
              </a:rPr>
              <a:t>Payment Methods</a:t>
            </a:r>
          </a:p>
        </p:txBody>
      </p:sp>
      <p:sp>
        <p:nvSpPr>
          <p:cNvPr id="39" name="TextBox 38"/>
          <p:cNvSpPr txBox="1"/>
          <p:nvPr/>
        </p:nvSpPr>
        <p:spPr>
          <a:xfrm>
            <a:off x="3502152" y="5394960"/>
            <a:ext cx="2468880" cy="822960"/>
          </a:xfrm>
          <a:prstGeom prst="rect">
            <a:avLst/>
          </a:prstGeom>
          <a:noFill/>
        </p:spPr>
        <p:txBody>
          <a:bodyPr wrap="square" lIns="45720" rIns="45720" tIns="18288" bIns="18288" anchor="t">
            <a:spAutoFit/>
          </a:bodyPr>
          <a:lstStyle/>
          <a:p>
            <a:pPr algn="ctr"/>
            <a:r>
              <a:rPr sz="1100" b="0">
                <a:solidFill>
                  <a:srgbClr val="222222"/>
                </a:solidFill>
                <a:latin typeface="Calibri"/>
              </a:rPr>
              <a:t>MTN MoMo, Airtel Money, Bank of Kigali, Equity Bank.</a:t>
            </a:r>
          </a:p>
        </p:txBody>
      </p:sp>
      <p:sp>
        <p:nvSpPr>
          <p:cNvPr id="40" name="Rectangle 39"/>
          <p:cNvSpPr/>
          <p:nvPr/>
        </p:nvSpPr>
        <p:spPr>
          <a:xfrm>
            <a:off x="6227064" y="4160520"/>
            <a:ext cx="2743200" cy="21031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27064" y="4160520"/>
            <a:ext cx="2743200" cy="73152"/>
          </a:xfrm>
          <a:prstGeom prst="rect">
            <a:avLst/>
          </a:prstGeom>
          <a:solidFill>
            <a:srgbClr val="C5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27064" y="4343400"/>
            <a:ext cx="2743200" cy="548640"/>
          </a:xfrm>
          <a:prstGeom prst="rect">
            <a:avLst/>
          </a:prstGeom>
          <a:noFill/>
        </p:spPr>
        <p:txBody>
          <a:bodyPr wrap="square" lIns="45720" rIns="45720" tIns="18288" bIns="18288" anchor="t">
            <a:spAutoFit/>
          </a:bodyPr>
          <a:lstStyle/>
          <a:p>
            <a:pPr algn="ctr"/>
            <a:r>
              <a:rPr sz="3000" b="0">
                <a:solidFill>
                  <a:srgbClr val="C53030"/>
                </a:solidFill>
                <a:latin typeface="Calibri"/>
              </a:rPr>
              <a:t>🛡️</a:t>
            </a:r>
          </a:p>
        </p:txBody>
      </p:sp>
      <p:sp>
        <p:nvSpPr>
          <p:cNvPr id="43" name="TextBox 42"/>
          <p:cNvSpPr txBox="1"/>
          <p:nvPr/>
        </p:nvSpPr>
        <p:spPr>
          <a:xfrm>
            <a:off x="6364224" y="4983480"/>
            <a:ext cx="2468880" cy="411480"/>
          </a:xfrm>
          <a:prstGeom prst="rect">
            <a:avLst/>
          </a:prstGeom>
          <a:noFill/>
        </p:spPr>
        <p:txBody>
          <a:bodyPr wrap="square" lIns="45720" rIns="45720" tIns="18288" bIns="18288" anchor="t">
            <a:spAutoFit/>
          </a:bodyPr>
          <a:lstStyle/>
          <a:p>
            <a:pPr algn="ctr"/>
            <a:r>
              <a:rPr sz="1400" b="1">
                <a:solidFill>
                  <a:srgbClr val="C53030"/>
                </a:solidFill>
                <a:latin typeface="Calibri"/>
              </a:rPr>
              <a:t>Admin Dashboard</a:t>
            </a:r>
          </a:p>
        </p:txBody>
      </p:sp>
      <p:sp>
        <p:nvSpPr>
          <p:cNvPr id="44" name="TextBox 43"/>
          <p:cNvSpPr txBox="1"/>
          <p:nvPr/>
        </p:nvSpPr>
        <p:spPr>
          <a:xfrm>
            <a:off x="6364224" y="5394960"/>
            <a:ext cx="2468880" cy="822960"/>
          </a:xfrm>
          <a:prstGeom prst="rect">
            <a:avLst/>
          </a:prstGeom>
          <a:noFill/>
        </p:spPr>
        <p:txBody>
          <a:bodyPr wrap="square" lIns="45720" rIns="45720" tIns="18288" bIns="18288" anchor="t">
            <a:spAutoFit/>
          </a:bodyPr>
          <a:lstStyle/>
          <a:p>
            <a:pPr algn="ctr"/>
            <a:r>
              <a:rPr sz="1100" b="0">
                <a:solidFill>
                  <a:srgbClr val="222222"/>
                </a:solidFill>
                <a:latin typeface="Calibri"/>
              </a:rPr>
              <a:t>Approve listings, verify users, flag fraud.</a:t>
            </a:r>
          </a:p>
        </p:txBody>
      </p:sp>
      <p:sp>
        <p:nvSpPr>
          <p:cNvPr id="45" name="Rectangle 44"/>
          <p:cNvSpPr/>
          <p:nvPr/>
        </p:nvSpPr>
        <p:spPr>
          <a:xfrm>
            <a:off x="9089136" y="4160520"/>
            <a:ext cx="2743200" cy="21031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089136" y="4160520"/>
            <a:ext cx="2743200" cy="73152"/>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89136" y="4343400"/>
            <a:ext cx="2743200" cy="548640"/>
          </a:xfrm>
          <a:prstGeom prst="rect">
            <a:avLst/>
          </a:prstGeom>
          <a:noFill/>
        </p:spPr>
        <p:txBody>
          <a:bodyPr wrap="square" lIns="45720" rIns="45720" tIns="18288" bIns="18288" anchor="t">
            <a:spAutoFit/>
          </a:bodyPr>
          <a:lstStyle/>
          <a:p>
            <a:pPr algn="ctr"/>
            <a:r>
              <a:rPr sz="3000" b="0">
                <a:solidFill>
                  <a:srgbClr val="2F855A"/>
                </a:solidFill>
                <a:latin typeface="Calibri"/>
              </a:rPr>
              <a:t>☁️</a:t>
            </a:r>
          </a:p>
        </p:txBody>
      </p:sp>
      <p:sp>
        <p:nvSpPr>
          <p:cNvPr id="48" name="TextBox 47"/>
          <p:cNvSpPr txBox="1"/>
          <p:nvPr/>
        </p:nvSpPr>
        <p:spPr>
          <a:xfrm>
            <a:off x="9226296" y="4983480"/>
            <a:ext cx="2468880" cy="411480"/>
          </a:xfrm>
          <a:prstGeom prst="rect">
            <a:avLst/>
          </a:prstGeom>
          <a:noFill/>
        </p:spPr>
        <p:txBody>
          <a:bodyPr wrap="square" lIns="45720" rIns="45720" tIns="18288" bIns="18288" anchor="t">
            <a:spAutoFit/>
          </a:bodyPr>
          <a:lstStyle/>
          <a:p>
            <a:pPr algn="ctr"/>
            <a:r>
              <a:rPr sz="1400" b="1">
                <a:solidFill>
                  <a:srgbClr val="2F855A"/>
                </a:solidFill>
                <a:latin typeface="Calibri"/>
              </a:rPr>
              <a:t>Cloud Deployed</a:t>
            </a:r>
          </a:p>
        </p:txBody>
      </p:sp>
      <p:sp>
        <p:nvSpPr>
          <p:cNvPr id="49" name="TextBox 48"/>
          <p:cNvSpPr txBox="1"/>
          <p:nvPr/>
        </p:nvSpPr>
        <p:spPr>
          <a:xfrm>
            <a:off x="9226296" y="5394960"/>
            <a:ext cx="2468880" cy="822960"/>
          </a:xfrm>
          <a:prstGeom prst="rect">
            <a:avLst/>
          </a:prstGeom>
          <a:noFill/>
        </p:spPr>
        <p:txBody>
          <a:bodyPr wrap="square" lIns="45720" rIns="45720" tIns="18288" bIns="18288" anchor="t">
            <a:spAutoFit/>
          </a:bodyPr>
          <a:lstStyle/>
          <a:p>
            <a:pPr algn="ctr"/>
            <a:r>
              <a:rPr sz="1100" b="0">
                <a:solidFill>
                  <a:srgbClr val="222222"/>
                </a:solidFill>
                <a:latin typeface="Calibri"/>
              </a:rPr>
              <a:t>Hosted on Render with automatic updates from GitHub.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37160" cy="58978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lIns="45720" rIns="45720" tIns="18288" bIns="18288" anchor="t">
            <a:spAutoFit/>
          </a:bodyPr>
          <a:lstStyle/>
          <a:p>
            <a:pPr algn="l"/>
            <a:r>
              <a:rPr sz="2800" b="1">
                <a:solidFill>
                  <a:srgbClr val="FFFFFF"/>
                </a:solidFill>
                <a:latin typeface="Calibri"/>
              </a:rPr>
              <a:t>Results and Discussion</a:t>
            </a:r>
          </a:p>
        </p:txBody>
      </p:sp>
      <p:sp>
        <p:nvSpPr>
          <p:cNvPr id="5" name="TextBox 4"/>
          <p:cNvSpPr txBox="1"/>
          <p:nvPr/>
        </p:nvSpPr>
        <p:spPr>
          <a:xfrm>
            <a:off x="502920" y="603504"/>
            <a:ext cx="10515600" cy="329184"/>
          </a:xfrm>
          <a:prstGeom prst="rect">
            <a:avLst/>
          </a:prstGeom>
          <a:noFill/>
        </p:spPr>
        <p:txBody>
          <a:bodyPr wrap="square" lIns="45720" rIns="45720" tIns="18288" bIns="18288" anchor="t">
            <a:spAutoFit/>
          </a:bodyPr>
          <a:lstStyle/>
          <a:p>
            <a:pPr algn="l"/>
            <a:r>
              <a:rPr sz="1300" b="0">
                <a:solidFill>
                  <a:srgbClr val="CCD6E6"/>
                </a:solidFill>
                <a:latin typeface="Calibri"/>
              </a:rPr>
              <a:t>What the project achieved</a:t>
            </a:r>
          </a:p>
        </p:txBody>
      </p:sp>
      <p:sp>
        <p:nvSpPr>
          <p:cNvPr id="6" name="Rectangle 5"/>
          <p:cNvSpPr/>
          <p:nvPr/>
        </p:nvSpPr>
        <p:spPr>
          <a:xfrm>
            <a:off x="0" y="6537960"/>
            <a:ext cx="12191695" cy="3200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74320"/>
          </a:xfrm>
          <a:prstGeom prst="rect">
            <a:avLst/>
          </a:prstGeom>
          <a:noFill/>
        </p:spPr>
        <p:txBody>
          <a:bodyPr wrap="square" lIns="45720" rIns="45720" tIns="18288" bIns="18288" anchor="t">
            <a:spAutoFit/>
          </a:bodyPr>
          <a:lstStyle/>
          <a:p>
            <a:pPr algn="l"/>
            <a:r>
              <a:rPr sz="1000" b="0">
                <a:solidFill>
                  <a:srgbClr val="FFFFFF"/>
                </a:solidFill>
                <a:latin typeface="Calibri"/>
              </a:rPr>
              <a:t>EstateAI Rwanda  ·  AI-Based Property Valuation System</a:t>
            </a:r>
          </a:p>
        </p:txBody>
      </p:sp>
      <p:sp>
        <p:nvSpPr>
          <p:cNvPr id="8" name="TextBox 7"/>
          <p:cNvSpPr txBox="1"/>
          <p:nvPr/>
        </p:nvSpPr>
        <p:spPr>
          <a:xfrm>
            <a:off x="11521440" y="6565392"/>
            <a:ext cx="548640" cy="274320"/>
          </a:xfrm>
          <a:prstGeom prst="rect">
            <a:avLst/>
          </a:prstGeom>
          <a:noFill/>
        </p:spPr>
        <p:txBody>
          <a:bodyPr wrap="square" lIns="45720" rIns="45720" tIns="18288" bIns="18288" anchor="t">
            <a:spAutoFit/>
          </a:bodyPr>
          <a:lstStyle/>
          <a:p>
            <a:pPr algn="r"/>
            <a:r>
              <a:rPr sz="1000" b="1">
                <a:solidFill>
                  <a:srgbClr val="FFFFFF"/>
                </a:solidFill>
                <a:latin typeface="Calibri"/>
              </a:rPr>
              <a:t>9 / 10</a:t>
            </a:r>
          </a:p>
        </p:txBody>
      </p:sp>
      <p:sp>
        <p:nvSpPr>
          <p:cNvPr id="9" name="TextBox 8"/>
          <p:cNvSpPr txBox="1"/>
          <p:nvPr/>
        </p:nvSpPr>
        <p:spPr>
          <a:xfrm>
            <a:off x="502920" y="1143000"/>
            <a:ext cx="11430000" cy="502920"/>
          </a:xfrm>
          <a:prstGeom prst="rect">
            <a:avLst/>
          </a:prstGeom>
          <a:noFill/>
        </p:spPr>
        <p:txBody>
          <a:bodyPr wrap="square" lIns="45720" rIns="45720" tIns="18288" bIns="18288" anchor="t">
            <a:spAutoFit/>
          </a:bodyPr>
          <a:lstStyle/>
          <a:p>
            <a:pPr algn="l"/>
            <a:r>
              <a:rPr sz="1800" b="1">
                <a:solidFill>
                  <a:srgbClr val="1F3864"/>
                </a:solidFill>
                <a:latin typeface="Calibri"/>
              </a:rPr>
              <a:t>The system was tested and works as designed.</a:t>
            </a:r>
          </a:p>
        </p:txBody>
      </p:sp>
      <p:sp>
        <p:nvSpPr>
          <p:cNvPr id="10" name="Rectangle 9"/>
          <p:cNvSpPr/>
          <p:nvPr/>
        </p:nvSpPr>
        <p:spPr>
          <a:xfrm>
            <a:off x="502920" y="1828800"/>
            <a:ext cx="2743200" cy="14173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828800"/>
            <a:ext cx="2743200" cy="91440"/>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011680"/>
            <a:ext cx="2743200" cy="640080"/>
          </a:xfrm>
          <a:prstGeom prst="rect">
            <a:avLst/>
          </a:prstGeom>
          <a:noFill/>
        </p:spPr>
        <p:txBody>
          <a:bodyPr wrap="square" lIns="45720" rIns="45720" tIns="18288" bIns="18288" anchor="t">
            <a:spAutoFit/>
          </a:bodyPr>
          <a:lstStyle/>
          <a:p>
            <a:pPr algn="ctr"/>
            <a:r>
              <a:rPr sz="3400" b="1">
                <a:solidFill>
                  <a:srgbClr val="2F855A"/>
                </a:solidFill>
                <a:latin typeface="Calibri"/>
              </a:rPr>
              <a:t>0.83</a:t>
            </a:r>
          </a:p>
        </p:txBody>
      </p:sp>
      <p:sp>
        <p:nvSpPr>
          <p:cNvPr id="13" name="TextBox 12"/>
          <p:cNvSpPr txBox="1"/>
          <p:nvPr/>
        </p:nvSpPr>
        <p:spPr>
          <a:xfrm>
            <a:off x="502920" y="2670048"/>
            <a:ext cx="2743200" cy="320040"/>
          </a:xfrm>
          <a:prstGeom prst="rect">
            <a:avLst/>
          </a:prstGeom>
          <a:noFill/>
        </p:spPr>
        <p:txBody>
          <a:bodyPr wrap="square" lIns="45720" rIns="45720" tIns="18288" bIns="18288" anchor="t">
            <a:spAutoFit/>
          </a:bodyPr>
          <a:lstStyle/>
          <a:p>
            <a:pPr algn="ctr"/>
            <a:r>
              <a:rPr sz="1300" b="1">
                <a:solidFill>
                  <a:srgbClr val="1F3864"/>
                </a:solidFill>
                <a:latin typeface="Calibri"/>
              </a:rPr>
              <a:t>R² Score</a:t>
            </a:r>
          </a:p>
        </p:txBody>
      </p:sp>
      <p:sp>
        <p:nvSpPr>
          <p:cNvPr id="14" name="TextBox 13"/>
          <p:cNvSpPr txBox="1"/>
          <p:nvPr/>
        </p:nvSpPr>
        <p:spPr>
          <a:xfrm>
            <a:off x="594360" y="2944368"/>
            <a:ext cx="2560320" cy="274320"/>
          </a:xfrm>
          <a:prstGeom prst="rect">
            <a:avLst/>
          </a:prstGeom>
          <a:noFill/>
        </p:spPr>
        <p:txBody>
          <a:bodyPr wrap="square" lIns="45720" rIns="45720" tIns="18288" bIns="18288" anchor="t">
            <a:spAutoFit/>
          </a:bodyPr>
          <a:lstStyle/>
          <a:p>
            <a:pPr algn="ctr"/>
            <a:r>
              <a:rPr sz="1000" b="0">
                <a:solidFill>
                  <a:srgbClr val="6B7280"/>
                </a:solidFill>
                <a:latin typeface="Calibri"/>
              </a:rPr>
              <a:t>ML model accuracy on validation data</a:t>
            </a:r>
          </a:p>
        </p:txBody>
      </p:sp>
      <p:sp>
        <p:nvSpPr>
          <p:cNvPr id="15" name="Rectangle 14"/>
          <p:cNvSpPr/>
          <p:nvPr/>
        </p:nvSpPr>
        <p:spPr>
          <a:xfrm>
            <a:off x="3410712" y="1828800"/>
            <a:ext cx="2743200" cy="14173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10712" y="1828800"/>
            <a:ext cx="2743200" cy="914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10712" y="2011680"/>
            <a:ext cx="2743200" cy="640080"/>
          </a:xfrm>
          <a:prstGeom prst="rect">
            <a:avLst/>
          </a:prstGeom>
          <a:noFill/>
        </p:spPr>
        <p:txBody>
          <a:bodyPr wrap="square" lIns="45720" rIns="45720" tIns="18288" bIns="18288" anchor="t">
            <a:spAutoFit/>
          </a:bodyPr>
          <a:lstStyle/>
          <a:p>
            <a:pPr algn="ctr"/>
            <a:r>
              <a:rPr sz="3400" b="1">
                <a:solidFill>
                  <a:srgbClr val="2E75B6"/>
                </a:solidFill>
                <a:latin typeface="Calibri"/>
              </a:rPr>
              <a:t>13</a:t>
            </a:r>
          </a:p>
        </p:txBody>
      </p:sp>
      <p:sp>
        <p:nvSpPr>
          <p:cNvPr id="18" name="TextBox 17"/>
          <p:cNvSpPr txBox="1"/>
          <p:nvPr/>
        </p:nvSpPr>
        <p:spPr>
          <a:xfrm>
            <a:off x="3410712" y="2670048"/>
            <a:ext cx="2743200" cy="320040"/>
          </a:xfrm>
          <a:prstGeom prst="rect">
            <a:avLst/>
          </a:prstGeom>
          <a:noFill/>
        </p:spPr>
        <p:txBody>
          <a:bodyPr wrap="square" lIns="45720" rIns="45720" tIns="18288" bIns="18288" anchor="t">
            <a:spAutoFit/>
          </a:bodyPr>
          <a:lstStyle/>
          <a:p>
            <a:pPr algn="ctr"/>
            <a:r>
              <a:rPr sz="1300" b="1">
                <a:solidFill>
                  <a:srgbClr val="1F3864"/>
                </a:solidFill>
                <a:latin typeface="Calibri"/>
              </a:rPr>
              <a:t>Database Tables</a:t>
            </a:r>
          </a:p>
        </p:txBody>
      </p:sp>
      <p:sp>
        <p:nvSpPr>
          <p:cNvPr id="19" name="TextBox 18"/>
          <p:cNvSpPr txBox="1"/>
          <p:nvPr/>
        </p:nvSpPr>
        <p:spPr>
          <a:xfrm>
            <a:off x="3502152" y="2944368"/>
            <a:ext cx="2560320" cy="274320"/>
          </a:xfrm>
          <a:prstGeom prst="rect">
            <a:avLst/>
          </a:prstGeom>
          <a:noFill/>
        </p:spPr>
        <p:txBody>
          <a:bodyPr wrap="square" lIns="45720" rIns="45720" tIns="18288" bIns="18288" anchor="t">
            <a:spAutoFit/>
          </a:bodyPr>
          <a:lstStyle/>
          <a:p>
            <a:pPr algn="ctr"/>
            <a:r>
              <a:rPr sz="1000" b="0">
                <a:solidFill>
                  <a:srgbClr val="6B7280"/>
                </a:solidFill>
                <a:latin typeface="Calibri"/>
              </a:rPr>
              <a:t>PostgreSQL relational design</a:t>
            </a:r>
          </a:p>
        </p:txBody>
      </p:sp>
      <p:sp>
        <p:nvSpPr>
          <p:cNvPr id="20" name="Rectangle 19"/>
          <p:cNvSpPr/>
          <p:nvPr/>
        </p:nvSpPr>
        <p:spPr>
          <a:xfrm>
            <a:off x="6318504" y="1828800"/>
            <a:ext cx="2743200" cy="14173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18504" y="1828800"/>
            <a:ext cx="2743200" cy="914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18504" y="2011680"/>
            <a:ext cx="2743200" cy="640080"/>
          </a:xfrm>
          <a:prstGeom prst="rect">
            <a:avLst/>
          </a:prstGeom>
          <a:noFill/>
        </p:spPr>
        <p:txBody>
          <a:bodyPr wrap="square" lIns="45720" rIns="45720" tIns="18288" bIns="18288" anchor="t">
            <a:spAutoFit/>
          </a:bodyPr>
          <a:lstStyle/>
          <a:p>
            <a:pPr algn="ctr"/>
            <a:r>
              <a:rPr sz="3400" b="1">
                <a:solidFill>
                  <a:srgbClr val="1F3864"/>
                </a:solidFill>
                <a:latin typeface="Calibri"/>
              </a:rPr>
              <a:t>70+</a:t>
            </a:r>
          </a:p>
        </p:txBody>
      </p:sp>
      <p:sp>
        <p:nvSpPr>
          <p:cNvPr id="23" name="TextBox 22"/>
          <p:cNvSpPr txBox="1"/>
          <p:nvPr/>
        </p:nvSpPr>
        <p:spPr>
          <a:xfrm>
            <a:off x="6318504" y="2670048"/>
            <a:ext cx="2743200" cy="320040"/>
          </a:xfrm>
          <a:prstGeom prst="rect">
            <a:avLst/>
          </a:prstGeom>
          <a:noFill/>
        </p:spPr>
        <p:txBody>
          <a:bodyPr wrap="square" lIns="45720" rIns="45720" tIns="18288" bIns="18288" anchor="t">
            <a:spAutoFit/>
          </a:bodyPr>
          <a:lstStyle/>
          <a:p>
            <a:pPr algn="ctr"/>
            <a:r>
              <a:rPr sz="1300" b="1">
                <a:solidFill>
                  <a:srgbClr val="1F3864"/>
                </a:solidFill>
                <a:latin typeface="Calibri"/>
              </a:rPr>
              <a:t>REST Endpoints</a:t>
            </a:r>
          </a:p>
        </p:txBody>
      </p:sp>
      <p:sp>
        <p:nvSpPr>
          <p:cNvPr id="24" name="TextBox 23"/>
          <p:cNvSpPr txBox="1"/>
          <p:nvPr/>
        </p:nvSpPr>
        <p:spPr>
          <a:xfrm>
            <a:off x="6409944" y="2944368"/>
            <a:ext cx="2560320" cy="274320"/>
          </a:xfrm>
          <a:prstGeom prst="rect">
            <a:avLst/>
          </a:prstGeom>
          <a:noFill/>
        </p:spPr>
        <p:txBody>
          <a:bodyPr wrap="square" lIns="45720" rIns="45720" tIns="18288" bIns="18288" anchor="t">
            <a:spAutoFit/>
          </a:bodyPr>
          <a:lstStyle/>
          <a:p>
            <a:pPr algn="ctr"/>
            <a:r>
              <a:rPr sz="1000" b="0">
                <a:solidFill>
                  <a:srgbClr val="6B7280"/>
                </a:solidFill>
                <a:latin typeface="Calibri"/>
              </a:rPr>
              <a:t>Backend API services</a:t>
            </a:r>
          </a:p>
        </p:txBody>
      </p:sp>
      <p:sp>
        <p:nvSpPr>
          <p:cNvPr id="25" name="Rectangle 24"/>
          <p:cNvSpPr/>
          <p:nvPr/>
        </p:nvSpPr>
        <p:spPr>
          <a:xfrm>
            <a:off x="9226296" y="1828800"/>
            <a:ext cx="2743200" cy="14173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26296" y="1828800"/>
            <a:ext cx="2743200"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6296" y="2011680"/>
            <a:ext cx="2743200" cy="640080"/>
          </a:xfrm>
          <a:prstGeom prst="rect">
            <a:avLst/>
          </a:prstGeom>
          <a:noFill/>
        </p:spPr>
        <p:txBody>
          <a:bodyPr wrap="square" lIns="45720" rIns="45720" tIns="18288" bIns="18288" anchor="t">
            <a:spAutoFit/>
          </a:bodyPr>
          <a:lstStyle/>
          <a:p>
            <a:pPr algn="ctr"/>
            <a:r>
              <a:rPr sz="3400" b="1">
                <a:solidFill>
                  <a:srgbClr val="D97706"/>
                </a:solidFill>
                <a:latin typeface="Calibri"/>
              </a:rPr>
              <a:t>Render</a:t>
            </a:r>
          </a:p>
        </p:txBody>
      </p:sp>
      <p:sp>
        <p:nvSpPr>
          <p:cNvPr id="28" name="TextBox 27"/>
          <p:cNvSpPr txBox="1"/>
          <p:nvPr/>
        </p:nvSpPr>
        <p:spPr>
          <a:xfrm>
            <a:off x="9226296" y="2670048"/>
            <a:ext cx="2743200" cy="320040"/>
          </a:xfrm>
          <a:prstGeom prst="rect">
            <a:avLst/>
          </a:prstGeom>
          <a:noFill/>
        </p:spPr>
        <p:txBody>
          <a:bodyPr wrap="square" lIns="45720" rIns="45720" tIns="18288" bIns="18288" anchor="t">
            <a:spAutoFit/>
          </a:bodyPr>
          <a:lstStyle/>
          <a:p>
            <a:pPr algn="ctr"/>
            <a:r>
              <a:rPr sz="1300" b="1">
                <a:solidFill>
                  <a:srgbClr val="1F3864"/>
                </a:solidFill>
                <a:latin typeface="Calibri"/>
              </a:rPr>
              <a:t>Cloud Deployed</a:t>
            </a:r>
          </a:p>
        </p:txBody>
      </p:sp>
      <p:sp>
        <p:nvSpPr>
          <p:cNvPr id="29" name="TextBox 28"/>
          <p:cNvSpPr txBox="1"/>
          <p:nvPr/>
        </p:nvSpPr>
        <p:spPr>
          <a:xfrm>
            <a:off x="9317736" y="2944368"/>
            <a:ext cx="2560320" cy="274320"/>
          </a:xfrm>
          <a:prstGeom prst="rect">
            <a:avLst/>
          </a:prstGeom>
          <a:noFill/>
        </p:spPr>
        <p:txBody>
          <a:bodyPr wrap="square" lIns="45720" rIns="45720" tIns="18288" bIns="18288" anchor="t">
            <a:spAutoFit/>
          </a:bodyPr>
          <a:lstStyle/>
          <a:p>
            <a:pPr algn="ctr"/>
            <a:r>
              <a:rPr sz="1000" b="0">
                <a:solidFill>
                  <a:srgbClr val="6B7280"/>
                </a:solidFill>
                <a:latin typeface="Calibri"/>
              </a:rPr>
              <a:t>Online and running</a:t>
            </a:r>
          </a:p>
        </p:txBody>
      </p:sp>
      <p:sp>
        <p:nvSpPr>
          <p:cNvPr id="30" name="Rectangle 29"/>
          <p:cNvSpPr/>
          <p:nvPr/>
        </p:nvSpPr>
        <p:spPr>
          <a:xfrm>
            <a:off x="502920" y="3520440"/>
            <a:ext cx="5486400" cy="27889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3520440"/>
            <a:ext cx="5486400" cy="3657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566160"/>
            <a:ext cx="5486400" cy="274320"/>
          </a:xfrm>
          <a:prstGeom prst="rect">
            <a:avLst/>
          </a:prstGeom>
          <a:noFill/>
        </p:spPr>
        <p:txBody>
          <a:bodyPr wrap="square" lIns="45720" rIns="45720" tIns="18288" bIns="18288" anchor="t">
            <a:spAutoFit/>
          </a:bodyPr>
          <a:lstStyle/>
          <a:p>
            <a:pPr algn="l"/>
            <a:r>
              <a:rPr sz="1200" b="1">
                <a:solidFill>
                  <a:srgbClr val="FFFFFF"/>
                </a:solidFill>
                <a:latin typeface="Calibri"/>
              </a:rPr>
              <a:t>✅  Achievements</a:t>
            </a:r>
          </a:p>
        </p:txBody>
      </p:sp>
      <p:sp>
        <p:nvSpPr>
          <p:cNvPr id="33" name="TextBox 32"/>
          <p:cNvSpPr txBox="1"/>
          <p:nvPr/>
        </p:nvSpPr>
        <p:spPr>
          <a:xfrm>
            <a:off x="640080" y="3977640"/>
            <a:ext cx="5212080" cy="2286000"/>
          </a:xfrm>
          <a:prstGeom prst="rect">
            <a:avLst/>
          </a:prstGeom>
          <a:noFill/>
        </p:spPr>
        <p:txBody>
          <a:bodyPr wrap="square" lIns="45720" rIns="45720">
            <a:spAutoFit/>
          </a:bodyPr>
          <a:lstStyle/>
          <a:p>
            <a:pPr algn="l">
              <a:spcAft>
                <a:spcPts val="600"/>
              </a:spcAft>
            </a:pPr>
            <a:r>
              <a:rPr sz="1400" b="1">
                <a:solidFill>
                  <a:srgbClr val="2F855A"/>
                </a:solidFill>
                <a:latin typeface="Calibri"/>
              </a:rPr>
              <a:t>• </a:t>
            </a:r>
            <a:r>
              <a:rPr sz="1200">
                <a:solidFill>
                  <a:srgbClr val="222222"/>
                </a:solidFill>
                <a:latin typeface="Calibri"/>
              </a:rPr>
              <a:t>All seven specific objectives were achieved and tested.</a:t>
            </a:r>
          </a:p>
          <a:p>
            <a:pPr algn="l">
              <a:spcAft>
                <a:spcPts val="600"/>
              </a:spcAft>
            </a:pPr>
            <a:r>
              <a:rPr sz="1400" b="1">
                <a:solidFill>
                  <a:srgbClr val="2F855A"/>
                </a:solidFill>
                <a:latin typeface="Calibri"/>
              </a:rPr>
              <a:t>• </a:t>
            </a:r>
            <a:r>
              <a:rPr sz="1200">
                <a:solidFill>
                  <a:srgbClr val="222222"/>
                </a:solidFill>
                <a:latin typeface="Calibri"/>
              </a:rPr>
              <a:t>AI model gives fast and realistic price estimates.</a:t>
            </a:r>
          </a:p>
          <a:p>
            <a:pPr algn="l">
              <a:spcAft>
                <a:spcPts val="600"/>
              </a:spcAft>
            </a:pPr>
            <a:r>
              <a:rPr sz="1400" b="1">
                <a:solidFill>
                  <a:srgbClr val="2F855A"/>
                </a:solidFill>
                <a:latin typeface="Calibri"/>
              </a:rPr>
              <a:t>• </a:t>
            </a:r>
            <a:r>
              <a:rPr sz="1200">
                <a:solidFill>
                  <a:srgbClr val="222222"/>
                </a:solidFill>
                <a:latin typeface="Calibri"/>
              </a:rPr>
              <a:t>Mobile app and web dashboard are fully working.</a:t>
            </a:r>
          </a:p>
          <a:p>
            <a:pPr algn="l">
              <a:spcAft>
                <a:spcPts val="600"/>
              </a:spcAft>
            </a:pPr>
            <a:r>
              <a:rPr sz="1400" b="1">
                <a:solidFill>
                  <a:srgbClr val="2F855A"/>
                </a:solidFill>
                <a:latin typeface="Calibri"/>
              </a:rPr>
              <a:t>• </a:t>
            </a:r>
            <a:r>
              <a:rPr sz="1200">
                <a:solidFill>
                  <a:srgbClr val="222222"/>
                </a:solidFill>
                <a:latin typeface="Calibri"/>
              </a:rPr>
              <a:t>Secure JWT login with email verification works correctly.</a:t>
            </a:r>
          </a:p>
          <a:p>
            <a:pPr algn="l">
              <a:spcAft>
                <a:spcPts val="600"/>
              </a:spcAft>
            </a:pPr>
            <a:r>
              <a:rPr sz="1400" b="1">
                <a:solidFill>
                  <a:srgbClr val="2F855A"/>
                </a:solidFill>
                <a:latin typeface="Calibri"/>
              </a:rPr>
              <a:t>• </a:t>
            </a:r>
            <a:r>
              <a:rPr sz="1200">
                <a:solidFill>
                  <a:srgbClr val="222222"/>
                </a:solidFill>
                <a:latin typeface="Calibri"/>
              </a:rPr>
              <a:t>Admin moderation and fraud-flagging features work as planned.</a:t>
            </a:r>
          </a:p>
        </p:txBody>
      </p:sp>
      <p:sp>
        <p:nvSpPr>
          <p:cNvPr id="34" name="Rectangle 33"/>
          <p:cNvSpPr/>
          <p:nvPr/>
        </p:nvSpPr>
        <p:spPr>
          <a:xfrm>
            <a:off x="6263640" y="3520440"/>
            <a:ext cx="5486400" cy="2788920"/>
          </a:xfrm>
          <a:prstGeom prst="rect">
            <a:avLst/>
          </a:prstGeom>
          <a:solidFill>
            <a:srgbClr val="FFFFFF"/>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63640" y="3520440"/>
            <a:ext cx="5486400" cy="365760"/>
          </a:xfrm>
          <a:prstGeom prst="rect">
            <a:avLst/>
          </a:prstGeom>
          <a:solidFill>
            <a:srgbClr val="C5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3566160"/>
            <a:ext cx="5486400" cy="274320"/>
          </a:xfrm>
          <a:prstGeom prst="rect">
            <a:avLst/>
          </a:prstGeom>
          <a:noFill/>
        </p:spPr>
        <p:txBody>
          <a:bodyPr wrap="square" lIns="45720" rIns="45720" tIns="18288" bIns="18288" anchor="t">
            <a:spAutoFit/>
          </a:bodyPr>
          <a:lstStyle/>
          <a:p>
            <a:pPr algn="l"/>
            <a:r>
              <a:rPr sz="1200" b="1">
                <a:solidFill>
                  <a:srgbClr val="FFFFFF"/>
                </a:solidFill>
                <a:latin typeface="Calibri"/>
              </a:rPr>
              <a:t>⚡  Challenges and Solutions</a:t>
            </a:r>
          </a:p>
        </p:txBody>
      </p:sp>
      <p:sp>
        <p:nvSpPr>
          <p:cNvPr id="37" name="TextBox 36"/>
          <p:cNvSpPr txBox="1"/>
          <p:nvPr/>
        </p:nvSpPr>
        <p:spPr>
          <a:xfrm>
            <a:off x="6400800" y="3977640"/>
            <a:ext cx="5212080" cy="2286000"/>
          </a:xfrm>
          <a:prstGeom prst="rect">
            <a:avLst/>
          </a:prstGeom>
          <a:noFill/>
        </p:spPr>
        <p:txBody>
          <a:bodyPr wrap="square" lIns="45720" rIns="45720">
            <a:spAutoFit/>
          </a:bodyPr>
          <a:lstStyle/>
          <a:p>
            <a:pPr algn="l">
              <a:spcAft>
                <a:spcPts val="600"/>
              </a:spcAft>
            </a:pPr>
            <a:r>
              <a:rPr sz="1400" b="1">
                <a:solidFill>
                  <a:srgbClr val="C53030"/>
                </a:solidFill>
                <a:latin typeface="Calibri"/>
              </a:rPr>
              <a:t>• </a:t>
            </a:r>
            <a:r>
              <a:rPr sz="1200">
                <a:solidFill>
                  <a:srgbClr val="222222"/>
                </a:solidFill>
                <a:latin typeface="Calibri"/>
              </a:rPr>
              <a:t>No real sales data → built model with realistic data, ready to retrain later.</a:t>
            </a:r>
          </a:p>
          <a:p>
            <a:pPr algn="l">
              <a:spcAft>
                <a:spcPts val="600"/>
              </a:spcAft>
            </a:pPr>
            <a:r>
              <a:rPr sz="1400" b="1">
                <a:solidFill>
                  <a:srgbClr val="C53030"/>
                </a:solidFill>
                <a:latin typeface="Calibri"/>
              </a:rPr>
              <a:t>• </a:t>
            </a:r>
            <a:r>
              <a:rPr sz="1200">
                <a:solidFill>
                  <a:srgbClr val="222222"/>
                </a:solidFill>
                <a:latin typeface="Calibri"/>
              </a:rPr>
              <a:t>AI froze the server → fixed by forcing single-thread mode at load.</a:t>
            </a:r>
          </a:p>
          <a:p>
            <a:pPr algn="l">
              <a:spcAft>
                <a:spcPts val="600"/>
              </a:spcAft>
            </a:pPr>
            <a:r>
              <a:rPr sz="1400" b="1">
                <a:solidFill>
                  <a:srgbClr val="C53030"/>
                </a:solidFill>
                <a:latin typeface="Calibri"/>
              </a:rPr>
              <a:t>• </a:t>
            </a:r>
            <a:r>
              <a:rPr sz="1200">
                <a:solidFill>
                  <a:srgbClr val="222222"/>
                </a:solidFill>
                <a:latin typeface="Calibri"/>
              </a:rPr>
              <a:t>Cloud cold-start → added instant /health endpoint to avoid time-outs.</a:t>
            </a:r>
          </a:p>
          <a:p>
            <a:pPr algn="l">
              <a:spcAft>
                <a:spcPts val="600"/>
              </a:spcAft>
            </a:pPr>
            <a:r>
              <a:rPr sz="1400" b="1">
                <a:solidFill>
                  <a:srgbClr val="C53030"/>
                </a:solidFill>
                <a:latin typeface="Calibri"/>
              </a:rPr>
              <a:t>• </a:t>
            </a:r>
            <a:r>
              <a:rPr sz="1200">
                <a:solidFill>
                  <a:srgbClr val="222222"/>
                </a:solidFill>
                <a:latin typeface="Calibri"/>
              </a:rPr>
              <a:t>Image upload errors → added local storage fallback in development.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37160" cy="58978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lIns="45720" rIns="45720" tIns="18288" bIns="18288" anchor="t">
            <a:spAutoFit/>
          </a:bodyPr>
          <a:lstStyle/>
          <a:p>
            <a:pPr algn="l"/>
            <a:r>
              <a:rPr sz="2800" b="1">
                <a:solidFill>
                  <a:srgbClr val="FFFFFF"/>
                </a:solidFill>
                <a:latin typeface="Calibri"/>
              </a:rPr>
              <a:t>Conclusion and Recommendations</a:t>
            </a:r>
          </a:p>
        </p:txBody>
      </p:sp>
      <p:sp>
        <p:nvSpPr>
          <p:cNvPr id="5" name="TextBox 4"/>
          <p:cNvSpPr txBox="1"/>
          <p:nvPr/>
        </p:nvSpPr>
        <p:spPr>
          <a:xfrm>
            <a:off x="502920" y="603504"/>
            <a:ext cx="10515600" cy="329184"/>
          </a:xfrm>
          <a:prstGeom prst="rect">
            <a:avLst/>
          </a:prstGeom>
          <a:noFill/>
        </p:spPr>
        <p:txBody>
          <a:bodyPr wrap="square" lIns="45720" rIns="45720" tIns="18288" bIns="18288" anchor="t">
            <a:spAutoFit/>
          </a:bodyPr>
          <a:lstStyle/>
          <a:p>
            <a:pPr algn="l"/>
            <a:r>
              <a:rPr sz="1300" b="0">
                <a:solidFill>
                  <a:srgbClr val="CCD6E6"/>
                </a:solidFill>
                <a:latin typeface="Calibri"/>
              </a:rPr>
              <a:t>Final summary and next steps</a:t>
            </a:r>
          </a:p>
        </p:txBody>
      </p:sp>
      <p:sp>
        <p:nvSpPr>
          <p:cNvPr id="6" name="Rectangle 5"/>
          <p:cNvSpPr/>
          <p:nvPr/>
        </p:nvSpPr>
        <p:spPr>
          <a:xfrm>
            <a:off x="0" y="6537960"/>
            <a:ext cx="12191695" cy="3200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74320"/>
          </a:xfrm>
          <a:prstGeom prst="rect">
            <a:avLst/>
          </a:prstGeom>
          <a:noFill/>
        </p:spPr>
        <p:txBody>
          <a:bodyPr wrap="square" lIns="45720" rIns="45720" tIns="18288" bIns="18288" anchor="t">
            <a:spAutoFit/>
          </a:bodyPr>
          <a:lstStyle/>
          <a:p>
            <a:pPr algn="l"/>
            <a:r>
              <a:rPr sz="1000" b="0">
                <a:solidFill>
                  <a:srgbClr val="FFFFFF"/>
                </a:solidFill>
                <a:latin typeface="Calibri"/>
              </a:rPr>
              <a:t>EstateAI Rwanda  ·  AI-Based Property Valuation System</a:t>
            </a:r>
          </a:p>
        </p:txBody>
      </p:sp>
      <p:sp>
        <p:nvSpPr>
          <p:cNvPr id="8" name="TextBox 7"/>
          <p:cNvSpPr txBox="1"/>
          <p:nvPr/>
        </p:nvSpPr>
        <p:spPr>
          <a:xfrm>
            <a:off x="11521440" y="6565392"/>
            <a:ext cx="548640" cy="274320"/>
          </a:xfrm>
          <a:prstGeom prst="rect">
            <a:avLst/>
          </a:prstGeom>
          <a:noFill/>
        </p:spPr>
        <p:txBody>
          <a:bodyPr wrap="square" lIns="45720" rIns="45720" tIns="18288" bIns="18288" anchor="t">
            <a:spAutoFit/>
          </a:bodyPr>
          <a:lstStyle/>
          <a:p>
            <a:pPr algn="r"/>
            <a:r>
              <a:rPr sz="1000" b="1">
                <a:solidFill>
                  <a:srgbClr val="FFFFFF"/>
                </a:solidFill>
                <a:latin typeface="Calibri"/>
              </a:rPr>
              <a:t>10 / 10</a:t>
            </a:r>
          </a:p>
        </p:txBody>
      </p:sp>
      <p:sp>
        <p:nvSpPr>
          <p:cNvPr id="9" name="Rectangle 8"/>
          <p:cNvSpPr/>
          <p:nvPr/>
        </p:nvSpPr>
        <p:spPr>
          <a:xfrm>
            <a:off x="502920" y="1143000"/>
            <a:ext cx="11201400" cy="1691640"/>
          </a:xfrm>
          <a:prstGeom prst="rect">
            <a:avLst/>
          </a:prstGeom>
          <a:solidFill>
            <a:srgbClr val="E6EEF8"/>
          </a:solidFill>
          <a:ln w="63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10972800" cy="365760"/>
          </a:xfrm>
          <a:prstGeom prst="rect">
            <a:avLst/>
          </a:prstGeom>
          <a:noFill/>
        </p:spPr>
        <p:txBody>
          <a:bodyPr wrap="square" lIns="45720" rIns="45720" tIns="18288" bIns="18288" anchor="t">
            <a:spAutoFit/>
          </a:bodyPr>
          <a:lstStyle/>
          <a:p>
            <a:pPr algn="l"/>
            <a:r>
              <a:rPr sz="1400" b="1">
                <a:solidFill>
                  <a:srgbClr val="1F3864"/>
                </a:solidFill>
                <a:latin typeface="Calibri"/>
              </a:rPr>
              <a:t>🎓  Conclusion</a:t>
            </a:r>
          </a:p>
        </p:txBody>
      </p:sp>
      <p:sp>
        <p:nvSpPr>
          <p:cNvPr id="11" name="TextBox 10"/>
          <p:cNvSpPr txBox="1"/>
          <p:nvPr/>
        </p:nvSpPr>
        <p:spPr>
          <a:xfrm>
            <a:off x="685800" y="1600200"/>
            <a:ext cx="10972800" cy="1143000"/>
          </a:xfrm>
          <a:prstGeom prst="rect">
            <a:avLst/>
          </a:prstGeom>
          <a:noFill/>
        </p:spPr>
        <p:txBody>
          <a:bodyPr wrap="square" lIns="45720" rIns="45720" tIns="18288" bIns="18288" anchor="t">
            <a:spAutoFit/>
          </a:bodyPr>
          <a:lstStyle/>
          <a:p>
            <a:pPr algn="l"/>
            <a:r>
              <a:rPr sz="1200" b="0">
                <a:solidFill>
                  <a:srgbClr val="222222"/>
                </a:solidFill>
                <a:latin typeface="Calibri"/>
              </a:rPr>
              <a:t>EstateAI Rwanda is a working AI-based property valuation system built for the Kigali real estate market. It combines a mobile app, a web admin dashboard, a Flask backend and an AI price prediction model. The system was deployed on the Render cloud platform and tested successfully. The project shows that Artificial Intelligence and modern mobile technology can bring transparency, trust and convenience to the Rwandan property market.</a:t>
            </a:r>
          </a:p>
        </p:txBody>
      </p:sp>
      <p:sp>
        <p:nvSpPr>
          <p:cNvPr id="12" name="TextBox 11"/>
          <p:cNvSpPr txBox="1"/>
          <p:nvPr/>
        </p:nvSpPr>
        <p:spPr>
          <a:xfrm>
            <a:off x="502920" y="3063240"/>
            <a:ext cx="10972800" cy="365760"/>
          </a:xfrm>
          <a:prstGeom prst="rect">
            <a:avLst/>
          </a:prstGeom>
          <a:noFill/>
        </p:spPr>
        <p:txBody>
          <a:bodyPr wrap="square" lIns="45720" rIns="45720" tIns="18288" bIns="18288" anchor="t">
            <a:spAutoFit/>
          </a:bodyPr>
          <a:lstStyle/>
          <a:p>
            <a:pPr algn="l"/>
            <a:r>
              <a:rPr sz="1400" b="1">
                <a:solidFill>
                  <a:srgbClr val="D97706"/>
                </a:solidFill>
                <a:latin typeface="Calibri"/>
              </a:rPr>
              <a:t>🚀  Recommendations and Future Work</a:t>
            </a:r>
          </a:p>
        </p:txBody>
      </p:sp>
      <p:sp>
        <p:nvSpPr>
          <p:cNvPr id="13" name="TextBox 12"/>
          <p:cNvSpPr txBox="1"/>
          <p:nvPr/>
        </p:nvSpPr>
        <p:spPr>
          <a:xfrm>
            <a:off x="502920" y="3520440"/>
            <a:ext cx="5577840" cy="2743200"/>
          </a:xfrm>
          <a:prstGeom prst="rect">
            <a:avLst/>
          </a:prstGeom>
          <a:noFill/>
        </p:spPr>
        <p:txBody>
          <a:bodyPr wrap="square" lIns="45720" rIns="45720">
            <a:spAutoFit/>
          </a:bodyPr>
          <a:lstStyle/>
          <a:p>
            <a:pPr algn="l">
              <a:spcAft>
                <a:spcPts val="600"/>
              </a:spcAft>
            </a:pPr>
            <a:r>
              <a:rPr sz="1300" b="1">
                <a:solidFill>
                  <a:srgbClr val="D97706"/>
                </a:solidFill>
                <a:latin typeface="Calibri"/>
              </a:rPr>
              <a:t>• </a:t>
            </a:r>
            <a:r>
              <a:rPr sz="1100">
                <a:solidFill>
                  <a:srgbClr val="222222"/>
                </a:solidFill>
                <a:latin typeface="Calibri"/>
              </a:rPr>
              <a:t>Collect real property price data from estate agencies in Rwanda.</a:t>
            </a:r>
          </a:p>
          <a:p>
            <a:pPr algn="l">
              <a:spcAft>
                <a:spcPts val="600"/>
              </a:spcAft>
            </a:pPr>
            <a:r>
              <a:rPr sz="1300" b="1">
                <a:solidFill>
                  <a:srgbClr val="D97706"/>
                </a:solidFill>
                <a:latin typeface="Calibri"/>
              </a:rPr>
              <a:t>• </a:t>
            </a:r>
            <a:r>
              <a:rPr sz="1100">
                <a:solidFill>
                  <a:srgbClr val="222222"/>
                </a:solidFill>
                <a:latin typeface="Calibri"/>
              </a:rPr>
              <a:t>Connect real MTN MoMo and Airtel Money credentials for live payments.</a:t>
            </a:r>
          </a:p>
          <a:p>
            <a:pPr algn="l">
              <a:spcAft>
                <a:spcPts val="600"/>
              </a:spcAft>
            </a:pPr>
            <a:r>
              <a:rPr sz="1300" b="1">
                <a:solidFill>
                  <a:srgbClr val="D97706"/>
                </a:solidFill>
                <a:latin typeface="Calibri"/>
              </a:rPr>
              <a:t>• </a:t>
            </a:r>
            <a:r>
              <a:rPr sz="1100">
                <a:solidFill>
                  <a:srgbClr val="222222"/>
                </a:solidFill>
                <a:latin typeface="Calibri"/>
              </a:rPr>
              <a:t>Add native maps with property pins (Google Maps).</a:t>
            </a:r>
          </a:p>
          <a:p>
            <a:pPr algn="l">
              <a:spcAft>
                <a:spcPts val="600"/>
              </a:spcAft>
            </a:pPr>
            <a:r>
              <a:rPr sz="1300" b="1">
                <a:solidFill>
                  <a:srgbClr val="D97706"/>
                </a:solidFill>
                <a:latin typeface="Calibri"/>
              </a:rPr>
              <a:t>• </a:t>
            </a:r>
            <a:r>
              <a:rPr sz="1100">
                <a:solidFill>
                  <a:srgbClr val="222222"/>
                </a:solidFill>
                <a:latin typeface="Calibri"/>
              </a:rPr>
              <a:t>Upgrade the Render plan to remove cold-start delays.</a:t>
            </a:r>
          </a:p>
          <a:p>
            <a:pPr algn="l">
              <a:spcAft>
                <a:spcPts val="600"/>
              </a:spcAft>
            </a:pPr>
            <a:r>
              <a:rPr sz="1300" b="1">
                <a:solidFill>
                  <a:srgbClr val="D97706"/>
                </a:solidFill>
                <a:latin typeface="Calibri"/>
              </a:rPr>
              <a:t>• </a:t>
            </a:r>
            <a:r>
              <a:rPr sz="1100">
                <a:solidFill>
                  <a:srgbClr val="222222"/>
                </a:solidFill>
                <a:latin typeface="Calibri"/>
              </a:rPr>
              <a:t>Add error monitoring with Sentry for production stability.</a:t>
            </a:r>
          </a:p>
        </p:txBody>
      </p:sp>
      <p:sp>
        <p:nvSpPr>
          <p:cNvPr id="14" name="TextBox 13"/>
          <p:cNvSpPr txBox="1"/>
          <p:nvPr/>
        </p:nvSpPr>
        <p:spPr>
          <a:xfrm>
            <a:off x="6263640" y="3520440"/>
            <a:ext cx="5577840" cy="2743200"/>
          </a:xfrm>
          <a:prstGeom prst="rect">
            <a:avLst/>
          </a:prstGeom>
          <a:noFill/>
        </p:spPr>
        <p:txBody>
          <a:bodyPr wrap="square" lIns="45720" rIns="45720">
            <a:spAutoFit/>
          </a:bodyPr>
          <a:lstStyle/>
          <a:p>
            <a:pPr algn="l">
              <a:spcAft>
                <a:spcPts val="600"/>
              </a:spcAft>
            </a:pPr>
            <a:r>
              <a:rPr sz="1300" b="1">
                <a:solidFill>
                  <a:srgbClr val="D97706"/>
                </a:solidFill>
                <a:latin typeface="Calibri"/>
              </a:rPr>
              <a:t>• </a:t>
            </a:r>
            <a:r>
              <a:rPr sz="1100">
                <a:solidFill>
                  <a:srgbClr val="222222"/>
                </a:solidFill>
                <a:latin typeface="Calibri"/>
              </a:rPr>
              <a:t>Add Kinyarwanda and French translations.</a:t>
            </a:r>
          </a:p>
          <a:p>
            <a:pPr algn="l">
              <a:spcAft>
                <a:spcPts val="600"/>
              </a:spcAft>
            </a:pPr>
            <a:r>
              <a:rPr sz="1300" b="1">
                <a:solidFill>
                  <a:srgbClr val="D97706"/>
                </a:solidFill>
                <a:latin typeface="Calibri"/>
              </a:rPr>
              <a:t>• </a:t>
            </a:r>
            <a:r>
              <a:rPr sz="1100">
                <a:solidFill>
                  <a:srgbClr val="222222"/>
                </a:solidFill>
                <a:latin typeface="Calibri"/>
              </a:rPr>
              <a:t>Add iOS support through the Apple Developer Program.</a:t>
            </a:r>
          </a:p>
          <a:p>
            <a:pPr algn="l">
              <a:spcAft>
                <a:spcPts val="600"/>
              </a:spcAft>
            </a:pPr>
            <a:r>
              <a:rPr sz="1300" b="1">
                <a:solidFill>
                  <a:srgbClr val="D97706"/>
                </a:solidFill>
                <a:latin typeface="Calibri"/>
              </a:rPr>
              <a:t>• </a:t>
            </a:r>
            <a:r>
              <a:rPr sz="1100">
                <a:solidFill>
                  <a:srgbClr val="222222"/>
                </a:solidFill>
                <a:latin typeface="Calibri"/>
              </a:rPr>
              <a:t>Partner with estate agencies for a real pilot in Kigali.</a:t>
            </a:r>
          </a:p>
          <a:p>
            <a:pPr algn="l">
              <a:spcAft>
                <a:spcPts val="600"/>
              </a:spcAft>
            </a:pPr>
            <a:r>
              <a:rPr sz="1300" b="1">
                <a:solidFill>
                  <a:srgbClr val="D97706"/>
                </a:solidFill>
                <a:latin typeface="Calibri"/>
              </a:rPr>
              <a:t>• </a:t>
            </a:r>
            <a:r>
              <a:rPr sz="1100">
                <a:solidFill>
                  <a:srgbClr val="222222"/>
                </a:solidFill>
                <a:latin typeface="Calibri"/>
              </a:rPr>
              <a:t>Extend the system to Burundi, Uganda and Tanzania.</a:t>
            </a:r>
          </a:p>
          <a:p>
            <a:pPr algn="l">
              <a:spcAft>
                <a:spcPts val="600"/>
              </a:spcAft>
            </a:pPr>
            <a:r>
              <a:rPr sz="1300" b="1">
                <a:solidFill>
                  <a:srgbClr val="D97706"/>
                </a:solidFill>
                <a:latin typeface="Calibri"/>
              </a:rPr>
              <a:t>• </a:t>
            </a:r>
            <a:r>
              <a:rPr sz="1100">
                <a:solidFill>
                  <a:srgbClr val="222222"/>
                </a:solidFill>
                <a:latin typeface="Calibri"/>
              </a:rPr>
              <a:t>Introduce mobile money escrow for safer transactions.</a:t>
            </a:r>
          </a:p>
        </p:txBody>
      </p:sp>
      <p:sp>
        <p:nvSpPr>
          <p:cNvPr id="15" name="Rectangle 14"/>
          <p:cNvSpPr/>
          <p:nvPr/>
        </p:nvSpPr>
        <p:spPr>
          <a:xfrm>
            <a:off x="502920" y="5989320"/>
            <a:ext cx="11201400" cy="457200"/>
          </a:xfrm>
          <a:prstGeom prst="rect">
            <a:avLst/>
          </a:prstGeom>
          <a:solidFill>
            <a:srgbClr val="1F3864"/>
          </a:solidFill>
          <a:ln w="63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989320"/>
            <a:ext cx="11201400" cy="457200"/>
          </a:xfrm>
          <a:prstGeom prst="rect">
            <a:avLst/>
          </a:prstGeom>
          <a:noFill/>
        </p:spPr>
        <p:txBody>
          <a:bodyPr wrap="square" lIns="45720" rIns="45720" tIns="18288" bIns="18288" anchor="ctr">
            <a:spAutoFit/>
          </a:bodyPr>
          <a:lstStyle/>
          <a:p>
            <a:pPr algn="ctr"/>
            <a:r>
              <a:rPr sz="1400" b="1">
                <a:solidFill>
                  <a:srgbClr val="FFFFFF"/>
                </a:solidFill>
                <a:latin typeface="Calibri"/>
              </a:rPr>
              <a:t>Thank you for your attention   ·   Questions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